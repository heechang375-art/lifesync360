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9144000"/>
  <p:embeddedFontLst>
    <p:embeddedFont>
      <p:font typeface="Roboto"/>
      <p:regular r:id="rId33"/>
      <p:bold r:id="rId34"/>
      <p:italic r:id="rId35"/>
      <p:boldItalic r:id="rId36"/>
    </p:embeddedFont>
    <p:embeddedFont>
      <p:font typeface="Helvetica Neue"/>
      <p:regular r:id="rId37"/>
      <p:bold r:id="rId38"/>
      <p:italic r:id="rId39"/>
      <p:boldItalic r:id="rId40"/>
    </p:embeddedFont>
    <p:embeddedFont>
      <p:font typeface="Oi"/>
      <p:regular r:id="rId41"/>
    </p:embeddedFont>
    <p:embeddedFont>
      <p:font typeface="Roboto Mon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g/JT+Y45E9OHU/VMKvuXZprJVk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41CA1B-4B6A-457E-9EE2-7F23FF1D2EE8}">
  <a:tblStyle styleId="{0F41CA1B-4B6A-457E-9EE2-7F23FF1D2EE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Italic.fntdata"/><Relationship Id="rId20" Type="http://schemas.openxmlformats.org/officeDocument/2006/relationships/slide" Target="slides/slide15.xml"/><Relationship Id="rId42" Type="http://schemas.openxmlformats.org/officeDocument/2006/relationships/font" Target="fonts/RobotoMono-regular.fntdata"/><Relationship Id="rId41" Type="http://schemas.openxmlformats.org/officeDocument/2006/relationships/font" Target="fonts/Oi-regular.fntdata"/><Relationship Id="rId22" Type="http://schemas.openxmlformats.org/officeDocument/2006/relationships/slide" Target="slides/slide17.xml"/><Relationship Id="rId44" Type="http://schemas.openxmlformats.org/officeDocument/2006/relationships/font" Target="fonts/RobotoMono-italic.fntdata"/><Relationship Id="rId21" Type="http://schemas.openxmlformats.org/officeDocument/2006/relationships/slide" Target="slides/slide16.xml"/><Relationship Id="rId43" Type="http://schemas.openxmlformats.org/officeDocument/2006/relationships/font" Target="fonts/RobotoMono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italic.fntdata"/><Relationship Id="rId12" Type="http://schemas.openxmlformats.org/officeDocument/2006/relationships/slide" Target="slides/slide7.xml"/><Relationship Id="rId34" Type="http://schemas.openxmlformats.org/officeDocument/2006/relationships/font" Target="fonts/Roboto-bold.fntdata"/><Relationship Id="rId15" Type="http://schemas.openxmlformats.org/officeDocument/2006/relationships/slide" Target="slides/slide10.xml"/><Relationship Id="rId37" Type="http://schemas.openxmlformats.org/officeDocument/2006/relationships/font" Target="fonts/HelveticaNeue-regular.fntdata"/><Relationship Id="rId14" Type="http://schemas.openxmlformats.org/officeDocument/2006/relationships/slide" Target="slides/slide9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2.xml"/><Relationship Id="rId39" Type="http://schemas.openxmlformats.org/officeDocument/2006/relationships/font" Target="fonts/HelveticaNeue-italic.fntdata"/><Relationship Id="rId16" Type="http://schemas.openxmlformats.org/officeDocument/2006/relationships/slide" Target="slides/slide11.xml"/><Relationship Id="rId38" Type="http://schemas.openxmlformats.org/officeDocument/2006/relationships/font" Target="fonts/HelveticaNeue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8c0b5c1df_1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8c0b5c1df_1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d8c0b5c1df_1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8c0b5c1df_0_3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8c0b5c1df_0_3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d8c0b5c1df_0_3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8c0b5c1df_1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8c0b5c1df_1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d8c0b5c1df_1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8cac6283f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8cac6283f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d8cac6283f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8c0b5c1df_0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8c0b5c1df_0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d8c0b5c1df_0_2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8c0b5c1df_0_2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8c0b5c1df_0_2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d8c0b5c1df_0_2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8c0b5c1df_0_2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d8c0b5c1df_0_2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d8c0b5c1df_0_2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8c0b5c1df_0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8c0b5c1df_0_2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d8c0b5c1df_0_2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8c0b5c1df_0_2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8c0b5c1df_0_2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d8c0b5c1df_0_2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8c0b5c1df_0_2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d8c0b5c1df_0_2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d8c0b5c1df_0_2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8c0b5c1df_0_3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d8c0b5c1df_0_3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d8c0b5c1df_0_3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8c0b5c1df_0_3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d8c0b5c1df_0_3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d8c0b5c1df_0_3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8c0b5c1df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8c0b5c1df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d8c0b5c1df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8c0b5c1df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8c0b5c1df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d8c0b5c1df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8c0b5c1df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d8c0b5c1df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d8c0b5c1df_0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8c0b5c1df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d8c0b5c1df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d8c0b5c1df_0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8c0b5c1df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d8c0b5c1df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d8c0b5c1df_0_1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8c0b5c1df_0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d8c0b5c1df_0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d8c0b5c1df_0_1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8c0b5c1df_0_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d8c0b5c1df_0_1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d8c0b5c1df_0_1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8c0b5c1df_0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d8c0b5c1df_0_1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d8c0b5c1df_0_1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8c0b5c1df_0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d8c0b5c1df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d8c0b5c1df_0_1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d8c0b5c1df_0_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d8c0b5c1df_0_1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d8c0b5c1df_0_1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8c0b5c1df_0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d8c0b5c1df_0_2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d8c0b5c1df_0_2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0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d8c0b5c1df_0_3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d8c0b5c1df_0_3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d8c0b5c1df_0_3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8cac6283f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d8cac6283f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d8cac6283f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hort Band: Text and Bullets" showMasterSp="0">
  <p:cSld name="Content Short Band: Text and Bulle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370"/>
            <a:ext cx="12192127" cy="6441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7"/>
          <p:cNvSpPr txBox="1"/>
          <p:nvPr>
            <p:ph idx="1" type="body"/>
          </p:nvPr>
        </p:nvSpPr>
        <p:spPr>
          <a:xfrm>
            <a:off x="608172" y="1137695"/>
            <a:ext cx="10975658" cy="507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type="title"/>
          </p:nvPr>
        </p:nvSpPr>
        <p:spPr>
          <a:xfrm>
            <a:off x="608172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도출)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7367117" y="936007"/>
            <a:ext cx="47318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4) Life Score 점수모델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건강 + 금융 + 활동 데이터를 종합하여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하나의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Life Score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생성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95" name="Google Shape;95;p2"/>
          <p:cNvGraphicFramePr/>
          <p:nvPr/>
        </p:nvGraphicFramePr>
        <p:xfrm>
          <a:off x="7464099" y="16959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1797675"/>
                <a:gridCol w="1797675"/>
              </a:tblGrid>
              <a:tr h="21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점수</a:t>
                      </a:r>
                      <a:endParaRPr sz="1200" u="none" cap="none" strike="noStrike">
                        <a:latin typeface="Oi"/>
                        <a:ea typeface="Oi"/>
                        <a:cs typeface="Oi"/>
                        <a:sym typeface="Oi"/>
                      </a:endParaRPr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범위</a:t>
                      </a:r>
                      <a:endParaRPr sz="1200" u="none" cap="none" strike="noStrike">
                        <a:latin typeface="Oi"/>
                        <a:ea typeface="Oi"/>
                        <a:cs typeface="Oi"/>
                        <a:sym typeface="Oi"/>
                      </a:endParaRPr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21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건강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점수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0~100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금융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점수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0~100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소비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안정성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0~100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자산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성장성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0~100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충성도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0~100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" name="Google Shape;96;p2"/>
          <p:cNvSpPr txBox="1"/>
          <p:nvPr/>
        </p:nvSpPr>
        <p:spPr>
          <a:xfrm>
            <a:off x="7464100" y="3260740"/>
            <a:ext cx="47278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최종 통합 점수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LifeSync Score =건강 3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% + 금융 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35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% + 소비 15% +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충성도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15%</a:t>
            </a:r>
            <a:endParaRPr/>
          </a:p>
        </p:txBody>
      </p:sp>
      <p:graphicFrame>
        <p:nvGraphicFramePr>
          <p:cNvPr id="97" name="Google Shape;97;p2"/>
          <p:cNvGraphicFramePr/>
          <p:nvPr/>
        </p:nvGraphicFramePr>
        <p:xfrm>
          <a:off x="7464099" y="3839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1797675"/>
                <a:gridCol w="1797675"/>
              </a:tblGrid>
              <a:tr h="216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고객</a:t>
                      </a:r>
                      <a:endParaRPr sz="1200" u="none" cap="none" strike="noStrike">
                        <a:latin typeface="Oi"/>
                        <a:ea typeface="Oi"/>
                        <a:cs typeface="Oi"/>
                        <a:sym typeface="Oi"/>
                      </a:endParaRPr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통합점수</a:t>
                      </a:r>
                      <a:endParaRPr sz="1200" u="none" cap="none" strike="noStrike">
                        <a:latin typeface="Oi"/>
                        <a:ea typeface="Oi"/>
                        <a:cs typeface="Oi"/>
                        <a:sym typeface="Oi"/>
                      </a:endParaRPr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216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91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74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52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" name="Google Shape;98;p2"/>
          <p:cNvSpPr txBox="1"/>
          <p:nvPr/>
        </p:nvSpPr>
        <p:spPr>
          <a:xfrm>
            <a:off x="273298" y="940882"/>
            <a:ext cx="53865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1) 가입 예측 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미가입 고객 중 누가 가입할 가능성이 높은가 ? </a:t>
            </a:r>
            <a:endParaRPr/>
          </a:p>
        </p:txBody>
      </p:sp>
      <p:graphicFrame>
        <p:nvGraphicFramePr>
          <p:cNvPr id="99" name="Google Shape;99;p2"/>
          <p:cNvGraphicFramePr/>
          <p:nvPr/>
        </p:nvGraphicFramePr>
        <p:xfrm>
          <a:off x="402043" y="14628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23989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age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region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card_spend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bank_asset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insurance_count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digital_usage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healthcare_usage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" name="Google Shape;100;p2"/>
          <p:cNvSpPr txBox="1"/>
          <p:nvPr/>
        </p:nvSpPr>
        <p:spPr>
          <a:xfrm>
            <a:off x="337670" y="2925149"/>
            <a:ext cx="333617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활용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가입 타케 마케팅</a:t>
            </a:r>
            <a:endParaRPr b="0" i="0" sz="1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광고 최적화</a:t>
            </a:r>
            <a:endParaRPr b="0" i="0" sz="1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앱 푸시 대상 선정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273298" y="4046872"/>
            <a:ext cx="53865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 VIP 예측 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누가 VIP 또는 PB 고객이 될 가능성이 높은가 ? </a:t>
            </a:r>
            <a:endParaRPr/>
          </a:p>
        </p:txBody>
      </p:sp>
      <p:graphicFrame>
        <p:nvGraphicFramePr>
          <p:cNvPr id="102" name="Google Shape;102;p2"/>
          <p:cNvGraphicFramePr/>
          <p:nvPr/>
        </p:nvGraphicFramePr>
        <p:xfrm>
          <a:off x="402043" y="4569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23989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total_asset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monthly_spend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securities_trade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insurance_premium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income_grade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age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" name="Google Shape;103;p2"/>
          <p:cNvSpPr txBox="1"/>
          <p:nvPr/>
        </p:nvSpPr>
        <p:spPr>
          <a:xfrm>
            <a:off x="337670" y="5917118"/>
            <a:ext cx="333617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활용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PB 추천</a:t>
            </a:r>
            <a:endParaRPr b="0" i="0" sz="1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프리미엄 카드 제안</a:t>
            </a:r>
            <a:endParaRPr b="0" i="0" sz="1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자산관리 서비스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4075276" y="936007"/>
            <a:ext cx="30247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3) 추천 모델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고객에게 무엇을 추천할 것인가 ? 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4228143" y="1505962"/>
            <a:ext cx="268165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추천 대상 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보험 상품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카드 상품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투자 상품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건강관리 프로그램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콘텐츠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7464100" y="4954229"/>
            <a:ext cx="472789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고객 세그먼트 </a:t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7" name="Google Shape;107;p2"/>
          <p:cNvGraphicFramePr/>
          <p:nvPr/>
        </p:nvGraphicFramePr>
        <p:xfrm>
          <a:off x="7464099" y="53028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1797675"/>
                <a:gridCol w="17976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점수대</a:t>
                      </a:r>
                      <a:endParaRPr sz="1200" u="none" cap="none" strike="noStrike">
                        <a:latin typeface="Oi"/>
                        <a:ea typeface="Oi"/>
                        <a:cs typeface="Oi"/>
                        <a:sym typeface="Oi"/>
                      </a:endParaRPr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그룹명</a:t>
                      </a:r>
                      <a:endParaRPr sz="1200" u="none" cap="none" strike="noStrike">
                        <a:latin typeface="Oi"/>
                        <a:ea typeface="Oi"/>
                        <a:cs typeface="Oi"/>
                        <a:sym typeface="Oi"/>
                      </a:endParaRPr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90+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Elite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75~89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Growth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60~74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Stable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40~59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Watch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&lt;40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Risk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8c0b5c1df_1_30"/>
          <p:cNvSpPr/>
          <p:nvPr/>
        </p:nvSpPr>
        <p:spPr>
          <a:xfrm>
            <a:off x="216700" y="848775"/>
            <a:ext cx="11433300" cy="56514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d8c0b5c1df_1_30"/>
          <p:cNvSpPr/>
          <p:nvPr/>
        </p:nvSpPr>
        <p:spPr>
          <a:xfrm>
            <a:off x="6282675" y="1665250"/>
            <a:ext cx="2199600" cy="4787100"/>
          </a:xfrm>
          <a:prstGeom prst="roundRect">
            <a:avLst>
              <a:gd fmla="val 827" name="adj"/>
            </a:avLst>
          </a:prstGeom>
          <a:solidFill>
            <a:srgbClr val="F4C0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d8c0b5c1df_1_30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데이터처리프로세스 (1/3)</a:t>
            </a:r>
            <a:endParaRPr/>
          </a:p>
        </p:txBody>
      </p:sp>
      <p:pic>
        <p:nvPicPr>
          <p:cNvPr id="116" name="Google Shape;116;g3d8c0b5c1df_1_30"/>
          <p:cNvPicPr preferRelativeResize="0"/>
          <p:nvPr/>
        </p:nvPicPr>
        <p:blipFill rotWithShape="1">
          <a:blip r:embed="rId3">
            <a:alphaModFix/>
          </a:blip>
          <a:srcRect b="-59116" l="-6931" r="-5592" t="-49479"/>
          <a:stretch/>
        </p:blipFill>
        <p:spPr>
          <a:xfrm>
            <a:off x="216711" y="848765"/>
            <a:ext cx="1309579" cy="42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" name="Google Shape;117;g3d8c0b5c1df_1_30"/>
          <p:cNvGrpSpPr/>
          <p:nvPr/>
        </p:nvGrpSpPr>
        <p:grpSpPr>
          <a:xfrm>
            <a:off x="245274" y="1665269"/>
            <a:ext cx="2199614" cy="4787096"/>
            <a:chOff x="2178018" y="1054758"/>
            <a:chExt cx="1220719" cy="637506"/>
          </a:xfrm>
        </p:grpSpPr>
        <p:sp>
          <p:nvSpPr>
            <p:cNvPr id="118" name="Google Shape;118;g3d8c0b5c1df_1_30"/>
            <p:cNvSpPr/>
            <p:nvPr/>
          </p:nvSpPr>
          <p:spPr>
            <a:xfrm>
              <a:off x="2178037" y="1054764"/>
              <a:ext cx="1220700" cy="637500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d8c0b5c1df_1_30"/>
            <p:cNvSpPr txBox="1"/>
            <p:nvPr/>
          </p:nvSpPr>
          <p:spPr>
            <a:xfrm>
              <a:off x="2178018" y="1054758"/>
              <a:ext cx="11394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ts val="750"/>
                <a:buFont typeface="Roboto"/>
                <a:buNone/>
              </a:pPr>
              <a:r>
                <a:rPr lang="en-US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데이터 입력</a:t>
              </a:r>
              <a:endParaRPr b="0" i="0" sz="12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" name="Google Shape;120;g3d8c0b5c1df_1_30"/>
          <p:cNvGrpSpPr/>
          <p:nvPr/>
        </p:nvGrpSpPr>
        <p:grpSpPr>
          <a:xfrm>
            <a:off x="257576" y="2007910"/>
            <a:ext cx="948600" cy="438300"/>
            <a:chOff x="257576" y="2007910"/>
            <a:chExt cx="948600" cy="438300"/>
          </a:xfrm>
        </p:grpSpPr>
        <p:sp>
          <p:nvSpPr>
            <p:cNvPr id="121" name="Google Shape;121;g3d8c0b5c1df_1_30"/>
            <p:cNvSpPr/>
            <p:nvPr/>
          </p:nvSpPr>
          <p:spPr>
            <a:xfrm>
              <a:off x="257576" y="2007910"/>
              <a:ext cx="948600" cy="4383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146300" lIns="429750" spcFirstLastPara="1" rIns="45700" wrap="square" tIns="118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Roboto"/>
                <a:buNone/>
              </a:pPr>
              <a:r>
                <a:rPr b="0" i="0" lang="en-US" sz="9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  <a:endParaRPr b="0" i="0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22" name="Google Shape;122;g3d8c0b5c1df_1_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5838" y="2105892"/>
              <a:ext cx="242325" cy="242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" name="Google Shape;123;g3d8c0b5c1df_1_30"/>
          <p:cNvSpPr txBox="1"/>
          <p:nvPr/>
        </p:nvSpPr>
        <p:spPr>
          <a:xfrm>
            <a:off x="320725" y="2565842"/>
            <a:ext cx="1803300" cy="10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금융 데이터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bq_bank_transaction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bq_card_usage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bq_securities_portfolio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bq_insurance_policy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d8c0b5c1df_1_30"/>
          <p:cNvSpPr txBox="1"/>
          <p:nvPr/>
        </p:nvSpPr>
        <p:spPr>
          <a:xfrm>
            <a:off x="320775" y="3675867"/>
            <a:ext cx="1803300" cy="92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건강 데이터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bq_wearable_time_series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bq_hostpital_records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bq_lab_result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d8c0b5c1df_1_30"/>
          <p:cNvSpPr txBox="1"/>
          <p:nvPr/>
        </p:nvSpPr>
        <p:spPr>
          <a:xfrm>
            <a:off x="320725" y="4642313"/>
            <a:ext cx="1803300" cy="92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행동/활동 데이터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bq_healthcare_activity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bq_user_login_log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bq_point_history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d8c0b5c1df_1_30"/>
          <p:cNvSpPr txBox="1"/>
          <p:nvPr/>
        </p:nvSpPr>
        <p:spPr>
          <a:xfrm>
            <a:off x="320725" y="5632350"/>
            <a:ext cx="1803300" cy="716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고객/기본 데이터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bq_user_master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bq_consent_history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g3d8c0b5c1df_1_30"/>
          <p:cNvCxnSpPr>
            <a:endCxn id="128" idx="1"/>
          </p:cNvCxnSpPr>
          <p:nvPr/>
        </p:nvCxnSpPr>
        <p:spPr>
          <a:xfrm>
            <a:off x="2397675" y="4025800"/>
            <a:ext cx="70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8" name="Google Shape;128;g3d8c0b5c1df_1_30"/>
          <p:cNvSpPr/>
          <p:nvPr/>
        </p:nvSpPr>
        <p:spPr>
          <a:xfrm>
            <a:off x="3103575" y="3440950"/>
            <a:ext cx="2199600" cy="11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데이터 전처리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결측치 제거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이상치 제거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단위 통일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기간 집계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g3d8c0b5c1df_1_30"/>
          <p:cNvCxnSpPr>
            <a:stCxn id="128" idx="3"/>
          </p:cNvCxnSpPr>
          <p:nvPr/>
        </p:nvCxnSpPr>
        <p:spPr>
          <a:xfrm>
            <a:off x="5303175" y="4025800"/>
            <a:ext cx="97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0" name="Google Shape;130;g3d8c0b5c1df_1_30"/>
          <p:cNvSpPr txBox="1"/>
          <p:nvPr/>
        </p:nvSpPr>
        <p:spPr>
          <a:xfrm>
            <a:off x="6282675" y="1665250"/>
            <a:ext cx="20532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Roboto"/>
              <a:buNone/>
            </a:pPr>
            <a:r>
              <a:rPr lang="en-US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Feature 생성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g3d8c0b5c1df_1_30"/>
          <p:cNvSpPr txBox="1"/>
          <p:nvPr/>
        </p:nvSpPr>
        <p:spPr>
          <a:xfrm>
            <a:off x="6327525" y="2472975"/>
            <a:ext cx="1650900" cy="10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금융 Feature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평균 잔액 /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유동성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총 자산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보험 보유 근황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거래/사용 패턴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g3d8c0b5c1df_1_30"/>
          <p:cNvGrpSpPr/>
          <p:nvPr/>
        </p:nvGrpSpPr>
        <p:grpSpPr>
          <a:xfrm>
            <a:off x="6327526" y="2007910"/>
            <a:ext cx="948600" cy="438300"/>
            <a:chOff x="257576" y="2007910"/>
            <a:chExt cx="948600" cy="438300"/>
          </a:xfrm>
        </p:grpSpPr>
        <p:sp>
          <p:nvSpPr>
            <p:cNvPr id="133" name="Google Shape;133;g3d8c0b5c1df_1_30"/>
            <p:cNvSpPr/>
            <p:nvPr/>
          </p:nvSpPr>
          <p:spPr>
            <a:xfrm>
              <a:off x="257576" y="2007910"/>
              <a:ext cx="948600" cy="4383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146300" lIns="429750" spcFirstLastPara="1" rIns="45700" wrap="square" tIns="118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Roboto"/>
                <a:buNone/>
              </a:pPr>
              <a:r>
                <a:rPr b="0" i="0" lang="en-US" sz="9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  <a:endParaRPr b="0" i="0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34" name="Google Shape;134;g3d8c0b5c1df_1_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5838" y="2105892"/>
              <a:ext cx="242325" cy="242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5" name="Google Shape;135;g3d8c0b5c1df_1_30"/>
          <p:cNvSpPr txBox="1"/>
          <p:nvPr/>
        </p:nvSpPr>
        <p:spPr>
          <a:xfrm>
            <a:off x="6327525" y="3568842"/>
            <a:ext cx="1650900" cy="10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건강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Feature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심박수/HRV/SpO2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걸음수/활동칼로리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BMI/혈압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검진 지표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d8c0b5c1df_1_30"/>
          <p:cNvSpPr txBox="1"/>
          <p:nvPr/>
        </p:nvSpPr>
        <p:spPr>
          <a:xfrm>
            <a:off x="6327525" y="4664708"/>
            <a:ext cx="1650900" cy="10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소비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Feature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월 소비 총액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카테고리 비중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소비 안정성 지표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의료비 지출 예측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d8c0b5c1df_1_30"/>
          <p:cNvSpPr txBox="1"/>
          <p:nvPr/>
        </p:nvSpPr>
        <p:spPr>
          <a:xfrm>
            <a:off x="6327525" y="5770008"/>
            <a:ext cx="1650900" cy="642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행동/충성도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계열사 연결 수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포인트 적립/사용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g3d8c0b5c1df_1_30"/>
          <p:cNvCxnSpPr>
            <a:stCxn id="114" idx="3"/>
            <a:endCxn id="139" idx="1"/>
          </p:cNvCxnSpPr>
          <p:nvPr/>
        </p:nvCxnSpPr>
        <p:spPr>
          <a:xfrm>
            <a:off x="8482275" y="4058800"/>
            <a:ext cx="78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9" name="Google Shape;139;g3d8c0b5c1df_1_30"/>
          <p:cNvSpPr/>
          <p:nvPr/>
        </p:nvSpPr>
        <p:spPr>
          <a:xfrm>
            <a:off x="9264975" y="3473950"/>
            <a:ext cx="2199600" cy="116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Feature 데이터셋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고객별 집계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g3d8c0b5c1df_1_30"/>
          <p:cNvCxnSpPr/>
          <p:nvPr/>
        </p:nvCxnSpPr>
        <p:spPr>
          <a:xfrm>
            <a:off x="11464575" y="3928200"/>
            <a:ext cx="78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8c0b5c1df_0_351"/>
          <p:cNvSpPr/>
          <p:nvPr/>
        </p:nvSpPr>
        <p:spPr>
          <a:xfrm>
            <a:off x="216700" y="848775"/>
            <a:ext cx="11433300" cy="56514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d8c0b5c1df_0_351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데이터처리프로세스 (2/3)</a:t>
            </a:r>
            <a:endParaRPr/>
          </a:p>
        </p:txBody>
      </p:sp>
      <p:cxnSp>
        <p:nvCxnSpPr>
          <p:cNvPr id="148" name="Google Shape;148;g3d8c0b5c1df_0_351"/>
          <p:cNvCxnSpPr/>
          <p:nvPr/>
        </p:nvCxnSpPr>
        <p:spPr>
          <a:xfrm>
            <a:off x="0" y="3928200"/>
            <a:ext cx="78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49" name="Google Shape;149;g3d8c0b5c1df_0_351"/>
          <p:cNvPicPr preferRelativeResize="0"/>
          <p:nvPr/>
        </p:nvPicPr>
        <p:blipFill rotWithShape="1">
          <a:blip r:embed="rId3">
            <a:alphaModFix/>
          </a:blip>
          <a:srcRect b="-59116" l="-6931" r="-5592" t="-49479"/>
          <a:stretch/>
        </p:blipFill>
        <p:spPr>
          <a:xfrm>
            <a:off x="216711" y="848765"/>
            <a:ext cx="1309579" cy="42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d8c0b5c1df_0_351"/>
          <p:cNvSpPr/>
          <p:nvPr/>
        </p:nvSpPr>
        <p:spPr>
          <a:xfrm>
            <a:off x="782700" y="1665250"/>
            <a:ext cx="4226400" cy="4645500"/>
          </a:xfrm>
          <a:prstGeom prst="roundRect">
            <a:avLst>
              <a:gd fmla="val 82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g3d8c0b5c1df_0_351"/>
          <p:cNvGrpSpPr/>
          <p:nvPr/>
        </p:nvGrpSpPr>
        <p:grpSpPr>
          <a:xfrm>
            <a:off x="829851" y="2264060"/>
            <a:ext cx="948600" cy="438300"/>
            <a:chOff x="257576" y="2007910"/>
            <a:chExt cx="948600" cy="438300"/>
          </a:xfrm>
        </p:grpSpPr>
        <p:sp>
          <p:nvSpPr>
            <p:cNvPr id="152" name="Google Shape;152;g3d8c0b5c1df_0_351"/>
            <p:cNvSpPr/>
            <p:nvPr/>
          </p:nvSpPr>
          <p:spPr>
            <a:xfrm>
              <a:off x="257576" y="2007910"/>
              <a:ext cx="948600" cy="4383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146300" lIns="429750" spcFirstLastPara="1" rIns="45700" wrap="square" tIns="118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Roboto"/>
                <a:buNone/>
              </a:pPr>
              <a:r>
                <a:rPr b="0" i="0" lang="en-US" sz="9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BigQuery</a:t>
              </a:r>
              <a:endParaRPr b="0" i="0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53" name="Google Shape;153;g3d8c0b5c1df_0_3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5838" y="2105892"/>
              <a:ext cx="242325" cy="242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g3d8c0b5c1df_0_351"/>
          <p:cNvSpPr txBox="1"/>
          <p:nvPr/>
        </p:nvSpPr>
        <p:spPr>
          <a:xfrm>
            <a:off x="782700" y="1665250"/>
            <a:ext cx="21996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Roboto"/>
              <a:buNone/>
            </a:pPr>
            <a:r>
              <a:rPr lang="en-US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Score Engine (Rule 기반)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Roboto"/>
              <a:buNone/>
            </a:pPr>
            <a:r>
              <a:rPr lang="en-US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각 영역별 점수 산출 (0~100)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g3d8c0b5c1df_0_351"/>
          <p:cNvSpPr txBox="1"/>
          <p:nvPr/>
        </p:nvSpPr>
        <p:spPr>
          <a:xfrm>
            <a:off x="829850" y="2775725"/>
            <a:ext cx="1990800" cy="922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금융 점수 (0~100)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유동성 점수 (35%)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자산 점수 (35%)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수익 안정성 점수 (30%)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d8c0b5c1df_0_351"/>
          <p:cNvSpPr txBox="1"/>
          <p:nvPr/>
        </p:nvSpPr>
        <p:spPr>
          <a:xfrm>
            <a:off x="829850" y="3726958"/>
            <a:ext cx="1990800" cy="124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건강 점수 (0~100)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심혈관 지표 (25%)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활동량 지표 (25%)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신체 지표 (20%)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검진 수치 (20%)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만성질환 보정 (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±</a:t>
            </a: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10%)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d8c0b5c1df_0_351"/>
          <p:cNvSpPr txBox="1"/>
          <p:nvPr/>
        </p:nvSpPr>
        <p:spPr>
          <a:xfrm>
            <a:off x="829850" y="4999658"/>
            <a:ext cx="1990800" cy="106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소비 안정성 (0~100)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지출 구조 안정성 (30%)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저축·자산 축적 여력 (25%)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부채·보험료 부담 (25%)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예측 가능성 (25%)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d8c0b5c1df_0_351"/>
          <p:cNvSpPr txBox="1"/>
          <p:nvPr/>
        </p:nvSpPr>
        <p:spPr>
          <a:xfrm>
            <a:off x="2848950" y="2775725"/>
            <a:ext cx="2084700" cy="922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자산 성장성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(0~100)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유동성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자산 성장 추세 (35%)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투자 자산 성과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(35%)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보험 자산 보호력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(30%)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d8c0b5c1df_0_351"/>
          <p:cNvSpPr txBox="1"/>
          <p:nvPr/>
        </p:nvSpPr>
        <p:spPr>
          <a:xfrm>
            <a:off x="2848958" y="3726951"/>
            <a:ext cx="2084700" cy="106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충성도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(0~100)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계열사 연결 깊이 (35%)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행동 지속성 (30%)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포인트 활용도 (20%)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건강 행동 참여도 (15%)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g3d8c0b5c1df_0_351"/>
          <p:cNvCxnSpPr/>
          <p:nvPr/>
        </p:nvCxnSpPr>
        <p:spPr>
          <a:xfrm>
            <a:off x="5009100" y="3928200"/>
            <a:ext cx="78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1" name="Google Shape;161;g3d8c0b5c1df_0_351"/>
          <p:cNvSpPr/>
          <p:nvPr/>
        </p:nvSpPr>
        <p:spPr>
          <a:xfrm>
            <a:off x="5791800" y="1665250"/>
            <a:ext cx="4292400" cy="4645500"/>
          </a:xfrm>
          <a:prstGeom prst="roundRect">
            <a:avLst>
              <a:gd fmla="val 827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d8c0b5c1df_0_351"/>
          <p:cNvSpPr txBox="1"/>
          <p:nvPr/>
        </p:nvSpPr>
        <p:spPr>
          <a:xfrm>
            <a:off x="5791800" y="1665250"/>
            <a:ext cx="21996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Roboto"/>
              <a:buNone/>
            </a:pPr>
            <a:r>
              <a:rPr lang="en-US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LifeSync 점수 계산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Roboto"/>
              <a:buNone/>
            </a:pPr>
            <a:r>
              <a:rPr lang="en-US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통합 점수 산출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g3d8c0b5c1df_0_351"/>
          <p:cNvSpPr/>
          <p:nvPr/>
        </p:nvSpPr>
        <p:spPr>
          <a:xfrm>
            <a:off x="5895825" y="2346400"/>
            <a:ext cx="1547100" cy="273600"/>
          </a:xfrm>
          <a:prstGeom prst="roundRect">
            <a:avLst>
              <a:gd fmla="val 16667" name="adj"/>
            </a:avLst>
          </a:prstGeom>
          <a:solidFill>
            <a:srgbClr val="FEFA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건강 점수 (30%)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d8c0b5c1df_0_351"/>
          <p:cNvSpPr/>
          <p:nvPr/>
        </p:nvSpPr>
        <p:spPr>
          <a:xfrm>
            <a:off x="5895825" y="2775725"/>
            <a:ext cx="1547100" cy="273600"/>
          </a:xfrm>
          <a:prstGeom prst="roundRect">
            <a:avLst>
              <a:gd fmla="val 16667" name="adj"/>
            </a:avLst>
          </a:prstGeom>
          <a:solidFill>
            <a:srgbClr val="FEFA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금융 점수 (40%)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d8c0b5c1df_0_351"/>
          <p:cNvSpPr/>
          <p:nvPr/>
        </p:nvSpPr>
        <p:spPr>
          <a:xfrm>
            <a:off x="5895825" y="3205050"/>
            <a:ext cx="1547100" cy="273600"/>
          </a:xfrm>
          <a:prstGeom prst="roundRect">
            <a:avLst>
              <a:gd fmla="val 16667" name="adj"/>
            </a:avLst>
          </a:prstGeom>
          <a:solidFill>
            <a:srgbClr val="FEFA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소비 안정성 (15%)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d8c0b5c1df_0_351"/>
          <p:cNvSpPr/>
          <p:nvPr/>
        </p:nvSpPr>
        <p:spPr>
          <a:xfrm>
            <a:off x="5895825" y="3634375"/>
            <a:ext cx="1547100" cy="273600"/>
          </a:xfrm>
          <a:prstGeom prst="roundRect">
            <a:avLst>
              <a:gd fmla="val 16667" name="adj"/>
            </a:avLst>
          </a:prstGeom>
          <a:solidFill>
            <a:srgbClr val="FEFA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충성도 (15%)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g3d8c0b5c1df_0_351"/>
          <p:cNvCxnSpPr>
            <a:endCxn id="168" idx="1"/>
          </p:cNvCxnSpPr>
          <p:nvPr/>
        </p:nvCxnSpPr>
        <p:spPr>
          <a:xfrm>
            <a:off x="7659675" y="2932000"/>
            <a:ext cx="5001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8" name="Google Shape;168;g3d8c0b5c1df_0_351"/>
          <p:cNvSpPr/>
          <p:nvPr/>
        </p:nvSpPr>
        <p:spPr>
          <a:xfrm>
            <a:off x="8159775" y="2310400"/>
            <a:ext cx="1775100" cy="1244400"/>
          </a:xfrm>
          <a:prstGeom prst="roundRect">
            <a:avLst>
              <a:gd fmla="val 16667" name="adj"/>
            </a:avLst>
          </a:prstGeom>
          <a:solidFill>
            <a:srgbClr val="FEFA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LifeSync Score (0~100)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g3d8c0b5c1df_0_3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76525" y="2704075"/>
            <a:ext cx="1238250" cy="628650"/>
          </a:xfrm>
          <a:prstGeom prst="rect">
            <a:avLst/>
          </a:prstGeom>
          <a:solidFill>
            <a:srgbClr val="FFE599"/>
          </a:solidFill>
          <a:ln>
            <a:noFill/>
          </a:ln>
        </p:spPr>
      </p:pic>
      <p:sp>
        <p:nvSpPr>
          <p:cNvPr id="170" name="Google Shape;170;g3d8c0b5c1df_0_351"/>
          <p:cNvSpPr/>
          <p:nvPr/>
        </p:nvSpPr>
        <p:spPr>
          <a:xfrm>
            <a:off x="8131425" y="3811650"/>
            <a:ext cx="1831800" cy="2253900"/>
          </a:xfrm>
          <a:prstGeom prst="roundRect">
            <a:avLst>
              <a:gd fmla="val 16667" name="adj"/>
            </a:avLst>
          </a:prstGeom>
          <a:solidFill>
            <a:srgbClr val="FEFA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점수 세그먼트 구분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d8c0b5c1df_0_351"/>
          <p:cNvSpPr txBox="1"/>
          <p:nvPr/>
        </p:nvSpPr>
        <p:spPr>
          <a:xfrm>
            <a:off x="8252075" y="4304425"/>
            <a:ext cx="782700" cy="27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점수대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d8c0b5c1df_0_351"/>
          <p:cNvSpPr txBox="1"/>
          <p:nvPr/>
        </p:nvSpPr>
        <p:spPr>
          <a:xfrm>
            <a:off x="9034775" y="4304425"/>
            <a:ext cx="782700" cy="27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그룹명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d8c0b5c1df_0_351"/>
          <p:cNvSpPr txBox="1"/>
          <p:nvPr/>
        </p:nvSpPr>
        <p:spPr>
          <a:xfrm>
            <a:off x="8252075" y="4578025"/>
            <a:ext cx="782700" cy="27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90+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8c0b5c1df_0_351"/>
          <p:cNvSpPr txBox="1"/>
          <p:nvPr/>
        </p:nvSpPr>
        <p:spPr>
          <a:xfrm>
            <a:off x="9034775" y="4578025"/>
            <a:ext cx="782700" cy="27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d8c0b5c1df_0_351"/>
          <p:cNvSpPr txBox="1"/>
          <p:nvPr/>
        </p:nvSpPr>
        <p:spPr>
          <a:xfrm>
            <a:off x="8252075" y="4851625"/>
            <a:ext cx="782700" cy="27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75~89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d8c0b5c1df_0_351"/>
          <p:cNvSpPr txBox="1"/>
          <p:nvPr/>
        </p:nvSpPr>
        <p:spPr>
          <a:xfrm>
            <a:off x="9034775" y="4851625"/>
            <a:ext cx="782700" cy="27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Growth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d8c0b5c1df_0_351"/>
          <p:cNvSpPr txBox="1"/>
          <p:nvPr/>
        </p:nvSpPr>
        <p:spPr>
          <a:xfrm>
            <a:off x="8252075" y="5125225"/>
            <a:ext cx="782700" cy="27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60~74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d8c0b5c1df_0_351"/>
          <p:cNvSpPr txBox="1"/>
          <p:nvPr/>
        </p:nvSpPr>
        <p:spPr>
          <a:xfrm>
            <a:off x="9034775" y="5125225"/>
            <a:ext cx="782700" cy="27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d8c0b5c1df_0_351"/>
          <p:cNvSpPr txBox="1"/>
          <p:nvPr/>
        </p:nvSpPr>
        <p:spPr>
          <a:xfrm>
            <a:off x="8252075" y="5398825"/>
            <a:ext cx="782700" cy="27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40~59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d8c0b5c1df_0_351"/>
          <p:cNvSpPr txBox="1"/>
          <p:nvPr/>
        </p:nvSpPr>
        <p:spPr>
          <a:xfrm>
            <a:off x="9034775" y="5398825"/>
            <a:ext cx="782700" cy="27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d8c0b5c1df_0_351"/>
          <p:cNvSpPr txBox="1"/>
          <p:nvPr/>
        </p:nvSpPr>
        <p:spPr>
          <a:xfrm>
            <a:off x="8252075" y="5672425"/>
            <a:ext cx="782700" cy="27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&lt;40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d8c0b5c1df_0_351"/>
          <p:cNvSpPr txBox="1"/>
          <p:nvPr/>
        </p:nvSpPr>
        <p:spPr>
          <a:xfrm>
            <a:off x="9034775" y="5672425"/>
            <a:ext cx="782700" cy="27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g3d8c0b5c1df_0_351"/>
          <p:cNvCxnSpPr>
            <a:stCxn id="168" idx="2"/>
            <a:endCxn id="170" idx="0"/>
          </p:cNvCxnSpPr>
          <p:nvPr/>
        </p:nvCxnSpPr>
        <p:spPr>
          <a:xfrm>
            <a:off x="9047325" y="3554800"/>
            <a:ext cx="0" cy="25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g3d8c0b5c1df_0_351"/>
          <p:cNvCxnSpPr/>
          <p:nvPr/>
        </p:nvCxnSpPr>
        <p:spPr>
          <a:xfrm>
            <a:off x="10084200" y="3907975"/>
            <a:ext cx="213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8c0b5c1df_1_89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데이터처리프로세스 (3/3)</a:t>
            </a:r>
            <a:endParaRPr/>
          </a:p>
        </p:txBody>
      </p:sp>
      <p:sp>
        <p:nvSpPr>
          <p:cNvPr id="191" name="Google Shape;191;g3d8c0b5c1df_1_89"/>
          <p:cNvSpPr/>
          <p:nvPr/>
        </p:nvSpPr>
        <p:spPr>
          <a:xfrm>
            <a:off x="216700" y="848775"/>
            <a:ext cx="11433300" cy="56514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g3d8c0b5c1df_1_89"/>
          <p:cNvPicPr preferRelativeResize="0"/>
          <p:nvPr/>
        </p:nvPicPr>
        <p:blipFill rotWithShape="1">
          <a:blip r:embed="rId3">
            <a:alphaModFix/>
          </a:blip>
          <a:srcRect b="-59116" l="-6931" r="-5592" t="-49479"/>
          <a:stretch/>
        </p:blipFill>
        <p:spPr>
          <a:xfrm>
            <a:off x="216711" y="848765"/>
            <a:ext cx="1309579" cy="42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d8c0b5c1df_1_89"/>
          <p:cNvSpPr/>
          <p:nvPr/>
        </p:nvSpPr>
        <p:spPr>
          <a:xfrm>
            <a:off x="320500" y="1483350"/>
            <a:ext cx="4509300" cy="4836900"/>
          </a:xfrm>
          <a:prstGeom prst="roundRect">
            <a:avLst>
              <a:gd fmla="val 82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g3d8c0b5c1df_1_89"/>
          <p:cNvGrpSpPr/>
          <p:nvPr/>
        </p:nvGrpSpPr>
        <p:grpSpPr>
          <a:xfrm>
            <a:off x="384865" y="2082160"/>
            <a:ext cx="1078200" cy="382200"/>
            <a:chOff x="7516415" y="3950135"/>
            <a:chExt cx="1078200" cy="382200"/>
          </a:xfrm>
        </p:grpSpPr>
        <p:sp>
          <p:nvSpPr>
            <p:cNvPr id="195" name="Google Shape;195;g3d8c0b5c1df_1_89"/>
            <p:cNvSpPr/>
            <p:nvPr/>
          </p:nvSpPr>
          <p:spPr>
            <a:xfrm>
              <a:off x="7516415" y="3950135"/>
              <a:ext cx="1078200" cy="382200"/>
            </a:xfrm>
            <a:prstGeom prst="roundRect">
              <a:avLst>
                <a:gd fmla="val 1674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rotWithShape="0" algn="ctr" dir="5400000" dist="6350">
                <a:srgbClr val="000000">
                  <a:alpha val="44710"/>
                </a:srgbClr>
              </a:outerShdw>
            </a:effectLst>
          </p:spPr>
          <p:txBody>
            <a:bodyPr anchorCtr="0" anchor="ctr" bIns="73150" lIns="429750" spcFirstLastPara="1" rIns="45700" wrap="square" tIns="73150">
              <a:noAutofit/>
            </a:bodyPr>
            <a:lstStyle/>
            <a:p>
              <a:pPr indent="0" lvl="0" marL="0" marR="0" rtl="0" algn="l">
                <a:lnSpc>
                  <a:spcPct val="121428"/>
                </a:lnSpc>
                <a:spcBef>
                  <a:spcPts val="200"/>
                </a:spcBef>
                <a:spcAft>
                  <a:spcPts val="0"/>
                </a:spcAft>
                <a:buClr>
                  <a:srgbClr val="757575"/>
                </a:buClr>
                <a:buSzPts val="900"/>
                <a:buFont typeface="Roboto"/>
                <a:buNone/>
              </a:pPr>
              <a:r>
                <a:rPr b="0" i="0" lang="en-US" sz="900" u="none" cap="none" strike="noStrik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Vertex AI</a:t>
              </a:r>
              <a:endParaRPr b="0" i="0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96" name="Google Shape;196;g3d8c0b5c1df_1_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62164" y="4010590"/>
              <a:ext cx="256100" cy="256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7" name="Google Shape;197;g3d8c0b5c1df_1_89"/>
          <p:cNvSpPr txBox="1"/>
          <p:nvPr/>
        </p:nvSpPr>
        <p:spPr>
          <a:xfrm>
            <a:off x="320500" y="1483350"/>
            <a:ext cx="21996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Roboto"/>
              <a:buNone/>
            </a:pPr>
            <a:r>
              <a:rPr lang="en-US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AI 모델 추론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Roboto"/>
              <a:buNone/>
            </a:pPr>
            <a:r>
              <a:rPr lang="en-US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예측/추천 수행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g3d8c0b5c1df_1_89"/>
          <p:cNvSpPr txBox="1"/>
          <p:nvPr/>
        </p:nvSpPr>
        <p:spPr>
          <a:xfrm>
            <a:off x="384875" y="2518675"/>
            <a:ext cx="1566000" cy="1603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가입 예측 모델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미가입 고객 대상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가입 확률 예측 (0~1)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활용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타겟 마케팅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광고 최적화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앱 푸시 대상 선정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d8c0b5c1df_1_89"/>
          <p:cNvSpPr txBox="1"/>
          <p:nvPr/>
        </p:nvSpPr>
        <p:spPr>
          <a:xfrm>
            <a:off x="384875" y="4237000"/>
            <a:ext cx="1566000" cy="1603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VIP 예측 모델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VIP/PB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가능성 예측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VIP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확률 예측 (0~1)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활용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PB 추천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프리미엄 카드 제안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자산 관리 서비스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d8c0b5c1df_1_89"/>
          <p:cNvSpPr txBox="1"/>
          <p:nvPr/>
        </p:nvSpPr>
        <p:spPr>
          <a:xfrm>
            <a:off x="2520100" y="2518675"/>
            <a:ext cx="2199600" cy="1914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추천 모델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고객별 최적 상품/서비스 추천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추천 우선순위 산출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추천 대상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보험 상품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카드 상품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투자 상품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건강관리 프로그램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콘텐츠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g3d8c0b5c1df_1_89"/>
          <p:cNvCxnSpPr/>
          <p:nvPr/>
        </p:nvCxnSpPr>
        <p:spPr>
          <a:xfrm>
            <a:off x="0" y="3928200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" name="Google Shape;202;g3d8c0b5c1df_1_89"/>
          <p:cNvCxnSpPr/>
          <p:nvPr/>
        </p:nvCxnSpPr>
        <p:spPr>
          <a:xfrm>
            <a:off x="4829800" y="3928200"/>
            <a:ext cx="87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3" name="Google Shape;203;g3d8c0b5c1df_1_89"/>
          <p:cNvSpPr/>
          <p:nvPr/>
        </p:nvSpPr>
        <p:spPr>
          <a:xfrm>
            <a:off x="5707300" y="1509750"/>
            <a:ext cx="5820300" cy="4836900"/>
          </a:xfrm>
          <a:prstGeom prst="roundRect">
            <a:avLst>
              <a:gd fmla="val 827" name="adj"/>
            </a:avLst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d8c0b5c1df_1_89"/>
          <p:cNvSpPr/>
          <p:nvPr/>
        </p:nvSpPr>
        <p:spPr>
          <a:xfrm>
            <a:off x="5817400" y="2207575"/>
            <a:ext cx="3002700" cy="3263700"/>
          </a:xfrm>
          <a:prstGeom prst="roundRect">
            <a:avLst>
              <a:gd fmla="val 16667" name="adj"/>
            </a:avLst>
          </a:prstGeom>
          <a:solidFill>
            <a:srgbClr val="F8F9F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g3d8c0b5c1df_1_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9063" y="2727762"/>
            <a:ext cx="1264825" cy="2400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d8c0b5c1df_1_89"/>
          <p:cNvSpPr txBox="1"/>
          <p:nvPr/>
        </p:nvSpPr>
        <p:spPr>
          <a:xfrm>
            <a:off x="5987175" y="2283075"/>
            <a:ext cx="1188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사용자 앱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d8c0b5c1df_1_89"/>
          <p:cNvSpPr txBox="1"/>
          <p:nvPr/>
        </p:nvSpPr>
        <p:spPr>
          <a:xfrm>
            <a:off x="7326725" y="2674225"/>
            <a:ext cx="13896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맞춤 추천 노출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등급/점수 확인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리워드/포인트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건강관리 피드백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d8c0b5c1df_1_89"/>
          <p:cNvSpPr/>
          <p:nvPr/>
        </p:nvSpPr>
        <p:spPr>
          <a:xfrm>
            <a:off x="9008800" y="2283075"/>
            <a:ext cx="2031300" cy="1875300"/>
          </a:xfrm>
          <a:prstGeom prst="roundRect">
            <a:avLst>
              <a:gd fmla="val 16667" name="adj"/>
            </a:avLst>
          </a:prstGeom>
          <a:solidFill>
            <a:srgbClr val="F8F9F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d8c0b5c1df_1_89"/>
          <p:cNvSpPr txBox="1"/>
          <p:nvPr/>
        </p:nvSpPr>
        <p:spPr>
          <a:xfrm>
            <a:off x="9099950" y="2705075"/>
            <a:ext cx="15660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가입 유도 캠페인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타겟 광고 집행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푸시 메시지 진행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d8c0b5c1df_1_89"/>
          <p:cNvSpPr txBox="1"/>
          <p:nvPr/>
        </p:nvSpPr>
        <p:spPr>
          <a:xfrm>
            <a:off x="9430150" y="2358575"/>
            <a:ext cx="1188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마케팅 시스템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d8c0b5c1df_1_89"/>
          <p:cNvSpPr txBox="1"/>
          <p:nvPr/>
        </p:nvSpPr>
        <p:spPr>
          <a:xfrm>
            <a:off x="5707300" y="1509750"/>
            <a:ext cx="21996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Roboto"/>
              <a:buNone/>
            </a:pPr>
            <a:r>
              <a:rPr lang="en-US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서비스 적용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750"/>
              <a:buFont typeface="Roboto"/>
              <a:buNone/>
            </a:pPr>
            <a:r>
              <a:rPr lang="en-US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사용자/마케팅 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8cac6283f_0_4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LifeSync Score</a:t>
            </a:r>
            <a:endParaRPr/>
          </a:p>
        </p:txBody>
      </p:sp>
      <p:pic>
        <p:nvPicPr>
          <p:cNvPr id="218" name="Google Shape;218;g3d8cac6283f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650" y="976950"/>
            <a:ext cx="10706875" cy="54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8c0b5c1df_0_241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건강 점수(⅕ )</a:t>
            </a:r>
            <a:endParaRPr/>
          </a:p>
        </p:txBody>
      </p:sp>
      <p:graphicFrame>
        <p:nvGraphicFramePr>
          <p:cNvPr id="225" name="Google Shape;225;g3d8c0b5c1df_0_241"/>
          <p:cNvGraphicFramePr/>
          <p:nvPr/>
        </p:nvGraphicFramePr>
        <p:xfrm>
          <a:off x="608163" y="1854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2081425"/>
                <a:gridCol w="887500"/>
                <a:gridCol w="2401975"/>
                <a:gridCol w="5113350"/>
              </a:tblGrid>
              <a:tr h="297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컬럼명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배점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데이터 소스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기준 요약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heart_rate_avg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8점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BPM </a:t>
                      </a:r>
                      <a:r>
                        <a:rPr lang="en-US" sz="1500"/>
                        <a:t>60~79 만점, 80 이상/50 미만 구간별 감점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hrv_ms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8점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60ms 초과 만점, 20ms 미만 0점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spo2_avg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9점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97% 이상 만점, 90% 미만 0점 + 이상 알림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6" name="Google Shape;226;g3d8c0b5c1df_0_241"/>
          <p:cNvSpPr txBox="1"/>
          <p:nvPr/>
        </p:nvSpPr>
        <p:spPr>
          <a:xfrm>
            <a:off x="608175" y="3936950"/>
            <a:ext cx="10250100" cy="16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심박수·HRV·SpO2를 기반으로 심혈관/호흡기 상태를 평가합니다. 웨어러블 미연동 시 고객유형 평균 대체 후 플래그를 기록합니다.</a:t>
            </a:r>
            <a:endParaRPr sz="15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/>
              <a:t>심혈관 점수 = RHR(8) + HRV(8) + SpO2(9)</a:t>
            </a:r>
            <a:endParaRPr sz="15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/>
              <a:t>· RHR: 60~79=8점 / 80~100=6점 / 101~110=4점 / 111~120=2점 / 그 외=0점</a:t>
            </a:r>
            <a:endParaRPr sz="15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/>
              <a:t>· SpO2: </a:t>
            </a:r>
            <a:r>
              <a:rPr lang="en-US" sz="1500">
                <a:latin typeface="Roboto Mono"/>
                <a:ea typeface="Roboto Mono"/>
                <a:cs typeface="Roboto Mono"/>
                <a:sym typeface="Roboto Mono"/>
              </a:rPr>
              <a:t>&lt;90%</a:t>
            </a:r>
            <a:r>
              <a:rPr lang="en-US" sz="1500"/>
              <a:t>이면 즉시 이상 알림 플래그</a:t>
            </a:r>
            <a:endParaRPr sz="1500"/>
          </a:p>
        </p:txBody>
      </p:sp>
      <p:sp>
        <p:nvSpPr>
          <p:cNvPr id="227" name="Google Shape;227;g3d8c0b5c1df_0_241"/>
          <p:cNvSpPr txBox="1"/>
          <p:nvPr/>
        </p:nvSpPr>
        <p:spPr>
          <a:xfrm>
            <a:off x="354300" y="862238"/>
            <a:ext cx="5518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심혈관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지표(35%)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8c0b5c1df_0_249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건강 점수(⅖ </a:t>
            </a:r>
            <a:r>
              <a:rPr lang="en-US"/>
              <a:t> </a:t>
            </a:r>
            <a:r>
              <a:rPr lang="en-US"/>
              <a:t>)</a:t>
            </a:r>
            <a:endParaRPr/>
          </a:p>
        </p:txBody>
      </p:sp>
      <p:graphicFrame>
        <p:nvGraphicFramePr>
          <p:cNvPr id="234" name="Google Shape;234;g3d8c0b5c1df_0_249"/>
          <p:cNvGraphicFramePr/>
          <p:nvPr/>
        </p:nvGraphicFramePr>
        <p:xfrm>
          <a:off x="608175" y="221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2271525"/>
                <a:gridCol w="936800"/>
                <a:gridCol w="2545125"/>
                <a:gridCol w="48664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컬럼명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배점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데이터 소스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기준 요약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steps_total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10점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bq_curated_unified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10,000보 이상 만점, 2,000보 미만 0점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calories_burned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10점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bq_curated_unified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500kcal 이상 만점, 200kcal 미만 0점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body_temp_avg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5점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bq_curated_unified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36.1~36.9 정상, 발열/저체온 0점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5" name="Google Shape;235;g3d8c0b5c1df_0_249"/>
          <p:cNvSpPr txBox="1"/>
          <p:nvPr/>
        </p:nvSpPr>
        <p:spPr>
          <a:xfrm>
            <a:off x="469800" y="3892625"/>
            <a:ext cx="10620000" cy="23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3489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/>
              <a:t>일상 활동량(걸음수·활동칼로리·체온)을 기준으로 생활 습관의 안정성을 측정합니다.</a:t>
            </a:r>
            <a:endParaRPr sz="15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/>
              <a:t>활동량 점수 = 걸음수(10) + 활동칼로리(10) + 체온(5)</a:t>
            </a:r>
            <a:endParaRPr sz="15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/>
              <a:t>· 체온 기준: </a:t>
            </a:r>
            <a:r>
              <a:rPr lang="en-US" sz="1500">
                <a:latin typeface="Roboto Mono"/>
                <a:ea typeface="Roboto Mono"/>
                <a:cs typeface="Roboto Mono"/>
                <a:sym typeface="Roboto Mono"/>
              </a:rPr>
              <a:t>&gt;=38.0</a:t>
            </a:r>
            <a:r>
              <a:rPr lang="en-US" sz="1500"/>
              <a:t> 또는 </a:t>
            </a:r>
            <a:r>
              <a:rPr lang="en-US" sz="1500">
                <a:latin typeface="Roboto Mono"/>
                <a:ea typeface="Roboto Mono"/>
                <a:cs typeface="Roboto Mono"/>
                <a:sym typeface="Roboto Mono"/>
              </a:rPr>
              <a:t>&lt;35.5</a:t>
            </a:r>
            <a:r>
              <a:rPr lang="en-US" sz="1500"/>
              <a:t> = 0점</a:t>
            </a:r>
            <a:endParaRPr sz="1500"/>
          </a:p>
        </p:txBody>
      </p:sp>
      <p:sp>
        <p:nvSpPr>
          <p:cNvPr id="236" name="Google Shape;236;g3d8c0b5c1df_0_249"/>
          <p:cNvSpPr txBox="1"/>
          <p:nvPr/>
        </p:nvSpPr>
        <p:spPr>
          <a:xfrm>
            <a:off x="469800" y="1127700"/>
            <a:ext cx="5518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활동량 지표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(35%)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8c0b5c1df_0_267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건강 점수(⅗</a:t>
            </a:r>
            <a:r>
              <a:rPr lang="en-US"/>
              <a:t> </a:t>
            </a:r>
            <a:r>
              <a:rPr lang="en-US"/>
              <a:t> )</a:t>
            </a:r>
            <a:endParaRPr/>
          </a:p>
        </p:txBody>
      </p:sp>
      <p:sp>
        <p:nvSpPr>
          <p:cNvPr id="243" name="Google Shape;243;g3d8c0b5c1df_0_267"/>
          <p:cNvSpPr txBox="1"/>
          <p:nvPr/>
        </p:nvSpPr>
        <p:spPr>
          <a:xfrm>
            <a:off x="608175" y="3689350"/>
            <a:ext cx="9735000" cy="23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BMI와 혈압을 통해 체중/혈압 리스크를 평가합니다. 병원 데이터 우선, 부재 시 대체 규칙 적용.</a:t>
            </a:r>
            <a:endParaRPr sz="1500">
              <a:solidFill>
                <a:schemeClr val="dk1"/>
              </a:solidFill>
            </a:endParaRPr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신체지표 점수 = BMI(10) + 혈압(10)</a:t>
            </a:r>
            <a:endParaRPr sz="1500">
              <a:solidFill>
                <a:schemeClr val="dk1"/>
              </a:solidFill>
            </a:endParaRPr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· 혈압 판정은 수축기/이완기 중 더 위험한 구간 기준 적용</a:t>
            </a:r>
            <a:endParaRPr sz="1500">
              <a:solidFill>
                <a:schemeClr val="dk1"/>
              </a:solidFill>
            </a:endParaRPr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3489"/>
              </a:solidFill>
            </a:endParaRPr>
          </a:p>
        </p:txBody>
      </p:sp>
      <p:sp>
        <p:nvSpPr>
          <p:cNvPr id="244" name="Google Shape;244;g3d8c0b5c1df_0_267"/>
          <p:cNvSpPr txBox="1"/>
          <p:nvPr/>
        </p:nvSpPr>
        <p:spPr>
          <a:xfrm>
            <a:off x="469800" y="1127700"/>
            <a:ext cx="5518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신체지표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(20%)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5" name="Google Shape;245;g3d8c0b5c1df_0_267"/>
          <p:cNvGraphicFramePr/>
          <p:nvPr/>
        </p:nvGraphicFramePr>
        <p:xfrm>
          <a:off x="608175" y="1951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2589400"/>
                <a:gridCol w="748225"/>
                <a:gridCol w="2031925"/>
                <a:gridCol w="40124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컬럼명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배점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데이터 소스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기준 요약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bmi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10점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18.5~22.9 만점, 과·저체중 구간별 감점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systolic_bp / diastolic_bp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10점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정상 10점, 고혈압 위험군 구간별 감점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8c0b5c1df_0_279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건강 점수(⅘ )</a:t>
            </a:r>
            <a:endParaRPr/>
          </a:p>
        </p:txBody>
      </p:sp>
      <p:sp>
        <p:nvSpPr>
          <p:cNvPr id="252" name="Google Shape;252;g3d8c0b5c1df_0_279"/>
          <p:cNvSpPr txBox="1"/>
          <p:nvPr/>
        </p:nvSpPr>
        <p:spPr>
          <a:xfrm>
            <a:off x="469800" y="1127700"/>
            <a:ext cx="5518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검진수치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(20%)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3" name="Google Shape;253;g3d8c0b5c1df_0_279"/>
          <p:cNvGraphicFramePr/>
          <p:nvPr/>
        </p:nvGraphicFramePr>
        <p:xfrm>
          <a:off x="608175" y="189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2425600"/>
                <a:gridCol w="759150"/>
                <a:gridCol w="3638950"/>
                <a:gridCol w="3548175"/>
              </a:tblGrid>
              <a:tr h="24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지표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배점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데이터 소스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기준 요약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fasting_glucose + HbA1c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8점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 (lab_result_json)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정상/주의/위험 구간 점수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ldl + triglyceride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6점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 (lab_result_json)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정상/주의/위험/고위험 구간 점수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AST/ALT/GTP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3점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 (lab_result_json)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정상 개수 기반 점수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eGFR + creatinine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3점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 (lab_result_json)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신장 기능 구간 점수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" name="Google Shape;254;g3d8c0b5c1df_0_279"/>
          <p:cNvSpPr txBox="1"/>
          <p:nvPr/>
        </p:nvSpPr>
        <p:spPr>
          <a:xfrm>
            <a:off x="608175" y="4082000"/>
            <a:ext cx="9593700" cy="25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52400" marR="1524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검진 결과(혈당/지질/간/신장)를 통해 잠재 위험을 측정합니다. 미보유 시 고객유형 평균 대체 규칙 적용.</a:t>
            </a:r>
            <a:endParaRPr sz="1500"/>
          </a:p>
          <a:p>
            <a:pPr indent="0" lvl="0" marL="292100" marR="292100" rtl="0" algn="l">
              <a:lnSpc>
                <a:spcPct val="18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/>
              <a:t>검진수치 점수 = 혈당(8) + 지질(6) + 간기능(3) + 신장기능(3)</a:t>
            </a:r>
            <a:endParaRPr sz="1500"/>
          </a:p>
          <a:p>
            <a:pPr indent="0" lvl="0" marL="292100" marR="2921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/>
              <a:t>· 검진 데이터 없는 고객은 대체값 사용 + </a:t>
            </a:r>
            <a:r>
              <a:rPr lang="en-US" sz="1500">
                <a:latin typeface="Roboto Mono"/>
                <a:ea typeface="Roboto Mono"/>
                <a:cs typeface="Roboto Mono"/>
                <a:sym typeface="Roboto Mono"/>
              </a:rPr>
              <a:t>health_score_flag</a:t>
            </a:r>
            <a:r>
              <a:rPr lang="en-US" sz="1500"/>
              <a:t> 기록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8c0b5c1df_0_292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건강 점수(5/5)</a:t>
            </a:r>
            <a:endParaRPr/>
          </a:p>
        </p:txBody>
      </p:sp>
      <p:graphicFrame>
        <p:nvGraphicFramePr>
          <p:cNvPr id="261" name="Google Shape;261;g3d8c0b5c1df_0_292"/>
          <p:cNvGraphicFramePr/>
          <p:nvPr/>
        </p:nvGraphicFramePr>
        <p:xfrm>
          <a:off x="608175" y="210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2224375"/>
                <a:gridCol w="1385675"/>
                <a:gridCol w="4193500"/>
                <a:gridCol w="38744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항목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보정값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데이터 소스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규칙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checkup_completed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+7점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당해연도 수검 시 가산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주요지표 정상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최대 +3점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혈당·지질·혈압 정상 시 가산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icd10_code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최대 -10점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 / bq_hospital_records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당뇨·고혈압·심혈관·신부전 등 감점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2" name="Google Shape;262;g3d8c0b5c1df_0_292"/>
          <p:cNvSpPr txBox="1"/>
          <p:nvPr/>
        </p:nvSpPr>
        <p:spPr>
          <a:xfrm>
            <a:off x="608175" y="3399875"/>
            <a:ext cx="68454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854F0B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300"/>
              </a:spcBef>
              <a:spcAft>
                <a:spcPts val="800"/>
              </a:spcAft>
              <a:buNone/>
            </a:pPr>
            <a:r>
              <a:rPr lang="en-US" sz="1500"/>
              <a:t>검진 수검 여부 가산점과 ICD-10 기반 만성질환 감점을 반영해 최종 점수를 보정합니다.</a:t>
            </a:r>
            <a:endParaRPr sz="1500"/>
          </a:p>
        </p:txBody>
      </p:sp>
      <p:sp>
        <p:nvSpPr>
          <p:cNvPr id="263" name="Google Shape;263;g3d8c0b5c1df_0_292"/>
          <p:cNvSpPr txBox="1"/>
          <p:nvPr/>
        </p:nvSpPr>
        <p:spPr>
          <a:xfrm>
            <a:off x="469800" y="1127700"/>
            <a:ext cx="5518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만성질환 보정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(10%)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8c0b5c1df_0_229"/>
          <p:cNvSpPr txBox="1"/>
          <p:nvPr>
            <p:ph type="title"/>
          </p:nvPr>
        </p:nvSpPr>
        <p:spPr>
          <a:xfrm>
            <a:off x="608097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금융 점수(⅓ )</a:t>
            </a:r>
            <a:endParaRPr/>
          </a:p>
        </p:txBody>
      </p:sp>
      <p:graphicFrame>
        <p:nvGraphicFramePr>
          <p:cNvPr id="270" name="Google Shape;270;g3d8c0b5c1df_0_229"/>
          <p:cNvGraphicFramePr/>
          <p:nvPr/>
        </p:nvGraphicFramePr>
        <p:xfrm>
          <a:off x="608200" y="204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3210825"/>
                <a:gridCol w="1400625"/>
                <a:gridCol w="2932300"/>
                <a:gridCol w="29405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컬럼명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계열사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테이블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활용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bank_avg_balance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B5D4F4"/>
                          </a:solidFill>
                          <a:highlight>
                            <a:srgbClr val="042C53"/>
                          </a:highlight>
                        </a:rPr>
                        <a:t>BNK</a:t>
                      </a:r>
                      <a:endParaRPr sz="1500">
                        <a:solidFill>
                          <a:srgbClr val="B5D4F4"/>
                        </a:solidFill>
                        <a:highlight>
                          <a:srgbClr val="042C53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현금 버퍼 기준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monthly_spend_total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ECBF6"/>
                          </a:solidFill>
                          <a:highlight>
                            <a:srgbClr val="26215C"/>
                          </a:highlight>
                        </a:rPr>
                        <a:t>CRD</a:t>
                      </a:r>
                      <a:endParaRPr sz="1500">
                        <a:solidFill>
                          <a:srgbClr val="CECBF6"/>
                        </a:solidFill>
                        <a:highlight>
                          <a:srgbClr val="26215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월 소비 기준 분모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bank_txn_count_30d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B5D4F4"/>
                          </a:solidFill>
                          <a:highlight>
                            <a:srgbClr val="042C53"/>
                          </a:highlight>
                        </a:rPr>
                        <a:t>BNK</a:t>
                      </a:r>
                      <a:endParaRPr sz="1500">
                        <a:solidFill>
                          <a:srgbClr val="B5D4F4"/>
                        </a:solidFill>
                        <a:highlight>
                          <a:srgbClr val="042C53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거래 활동성 보정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1" name="Google Shape;271;g3d8c0b5c1df_0_229"/>
          <p:cNvSpPr txBox="1"/>
          <p:nvPr/>
        </p:nvSpPr>
        <p:spPr>
          <a:xfrm>
            <a:off x="516325" y="4136575"/>
            <a:ext cx="10668000" cy="20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월 지출 대비 은행 잔액 버퍼를 중심으로 현재 현금흐름 안정성을 평가합니다. 잔액이 높아도 지출이 과도하면 감점합니다.</a:t>
            </a:r>
            <a:endParaRPr sz="15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/>
              <a:t>유동성비율 = </a:t>
            </a:r>
            <a:r>
              <a:rPr lang="en-US" sz="1500">
                <a:latin typeface="Roboto Mono"/>
                <a:ea typeface="Roboto Mono"/>
                <a:cs typeface="Roboto Mono"/>
                <a:sym typeface="Roboto Mono"/>
              </a:rPr>
              <a:t>bank_avg_balance / monthly_spend_total</a:t>
            </a:r>
            <a:endParaRPr sz="15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/>
              <a:t>· 6개월 이상 버퍼 → 40점 / 4~6개월 → 32점 / 2~4개월 → 24점 / 1~2개월 → 14점 / 1개월 미만 → 6점</a:t>
            </a:r>
            <a:endParaRPr sz="1500"/>
          </a:p>
        </p:txBody>
      </p:sp>
      <p:sp>
        <p:nvSpPr>
          <p:cNvPr id="272" name="Google Shape;272;g3d8c0b5c1df_0_229"/>
          <p:cNvSpPr txBox="1"/>
          <p:nvPr/>
        </p:nvSpPr>
        <p:spPr>
          <a:xfrm>
            <a:off x="516325" y="1021250"/>
            <a:ext cx="5518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유동성 점수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(40%)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8c0b5c1df_0_313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금융 점수(⅔ )</a:t>
            </a:r>
            <a:endParaRPr/>
          </a:p>
        </p:txBody>
      </p:sp>
      <p:sp>
        <p:nvSpPr>
          <p:cNvPr id="279" name="Google Shape;279;g3d8c0b5c1df_0_313"/>
          <p:cNvSpPr txBox="1"/>
          <p:nvPr/>
        </p:nvSpPr>
        <p:spPr>
          <a:xfrm>
            <a:off x="502200" y="882075"/>
            <a:ext cx="5518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자산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점수(35%)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0" name="Google Shape;280;g3d8c0b5c1df_0_313"/>
          <p:cNvGraphicFramePr/>
          <p:nvPr/>
        </p:nvGraphicFramePr>
        <p:xfrm>
          <a:off x="608175" y="1609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3017650"/>
                <a:gridCol w="1506775"/>
                <a:gridCol w="3140550"/>
                <a:gridCol w="3064350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컬럼명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계열사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테이블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활용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asset_value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통합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총자산 기본값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sec_total_eval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9FE1CB"/>
                          </a:solidFill>
                          <a:highlight>
                            <a:srgbClr val="04342C"/>
                          </a:highlight>
                        </a:rPr>
                        <a:t>SEC</a:t>
                      </a:r>
                      <a:endParaRPr sz="1500">
                        <a:solidFill>
                          <a:srgbClr val="9FE1CB"/>
                        </a:solidFill>
                        <a:highlight>
                          <a:srgbClr val="04342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투자자산 규모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bank_avg_balance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B5D4F4"/>
                          </a:solidFill>
                          <a:highlight>
                            <a:srgbClr val="042C53"/>
                          </a:highlight>
                        </a:rPr>
                        <a:t>BNK</a:t>
                      </a:r>
                      <a:endParaRPr sz="1500">
                        <a:solidFill>
                          <a:srgbClr val="B5D4F4"/>
                        </a:solidFill>
                        <a:highlight>
                          <a:srgbClr val="042C53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현금성 자산 보정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1" name="Google Shape;281;g3d8c0b5c1df_0_313"/>
          <p:cNvSpPr txBox="1"/>
          <p:nvPr/>
        </p:nvSpPr>
        <p:spPr>
          <a:xfrm>
            <a:off x="608175" y="3735350"/>
            <a:ext cx="105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3489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/>
              <a:t>총자산 규모를 분위수(percentile)로 표준화해 고객군 내 상대적 자산 위치를 반영합니다.</a:t>
            </a:r>
            <a:endParaRPr sz="15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/>
              <a:t>자산점수 = </a:t>
            </a:r>
            <a:r>
              <a:rPr lang="en-US" sz="1500">
                <a:latin typeface="Roboto Mono"/>
                <a:ea typeface="Roboto Mono"/>
                <a:cs typeface="Roboto Mono"/>
                <a:sym typeface="Roboto Mono"/>
              </a:rPr>
              <a:t>PERCENT_RANK(asset_value)</a:t>
            </a:r>
            <a:r>
              <a:rPr lang="en-US" sz="1500"/>
              <a:t> × 35</a:t>
            </a:r>
            <a:endParaRPr sz="15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/>
              <a:t>· 상위 10%: 35점 / 상위 30%: 30점 / 중위권: 22점 / 하위 30%: 12점 / 하위 10%: 5점</a:t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8c0b5c1df_0_322"/>
          <p:cNvSpPr txBox="1"/>
          <p:nvPr>
            <p:ph type="title"/>
          </p:nvPr>
        </p:nvSpPr>
        <p:spPr>
          <a:xfrm>
            <a:off x="608097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금융 점수(3/3)</a:t>
            </a:r>
            <a:endParaRPr/>
          </a:p>
        </p:txBody>
      </p:sp>
      <p:sp>
        <p:nvSpPr>
          <p:cNvPr id="288" name="Google Shape;288;g3d8c0b5c1df_0_322"/>
          <p:cNvSpPr txBox="1"/>
          <p:nvPr/>
        </p:nvSpPr>
        <p:spPr>
          <a:xfrm>
            <a:off x="487300" y="867150"/>
            <a:ext cx="5518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수익 안정성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점수(25%)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9" name="Google Shape;289;g3d8c0b5c1df_0_322"/>
          <p:cNvGraphicFramePr/>
          <p:nvPr/>
        </p:nvGraphicFramePr>
        <p:xfrm>
          <a:off x="719750" y="156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3246400"/>
                <a:gridCol w="1155900"/>
                <a:gridCol w="2869275"/>
                <a:gridCol w="3230000"/>
              </a:tblGrid>
              <a:tr h="281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컬럼명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계열사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테이블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활용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avg_return_rate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9FE1CB"/>
                          </a:solidFill>
                          <a:highlight>
                            <a:srgbClr val="04342C"/>
                          </a:highlight>
                        </a:rPr>
                        <a:t>SEC</a:t>
                      </a:r>
                      <a:endParaRPr sz="1500">
                        <a:solidFill>
                          <a:srgbClr val="9FE1CB"/>
                        </a:solidFill>
                        <a:highlight>
                          <a:srgbClr val="04342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평균 수익률 구간 점수화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9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sec_asset_type_mix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9FE1CB"/>
                          </a:solidFill>
                          <a:highlight>
                            <a:srgbClr val="04342C"/>
                          </a:highlight>
                        </a:rPr>
                        <a:t>SEC</a:t>
                      </a:r>
                      <a:endParaRPr sz="1500">
                        <a:solidFill>
                          <a:srgbClr val="9FE1CB"/>
                        </a:solidFill>
                        <a:highlight>
                          <a:srgbClr val="04342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unified_customer_view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분산 투자 보너스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insurance_has_realexpense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AC775"/>
                          </a:solidFill>
                          <a:highlight>
                            <a:srgbClr val="412402"/>
                          </a:highlight>
                        </a:rPr>
                        <a:t>INS</a:t>
                      </a:r>
                      <a:endParaRPr sz="1500">
                        <a:solidFill>
                          <a:srgbClr val="FAC775"/>
                        </a:solidFill>
                        <a:highlight>
                          <a:srgbClr val="412402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unified_customer_view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리스크 방어 보정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" name="Google Shape;290;g3d8c0b5c1df_0_322"/>
          <p:cNvSpPr txBox="1"/>
          <p:nvPr/>
        </p:nvSpPr>
        <p:spPr>
          <a:xfrm>
            <a:off x="719750" y="3714075"/>
            <a:ext cx="8488200" cy="21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평균 수익률과 변동성을 함께 반영해 고위험 고변동 투자 패턴을 구분합니다. 수익률이 높아도 변동성이 크면 감점합니다.</a:t>
            </a:r>
            <a:endParaRPr sz="15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/>
              <a:t>수익안정성 기본점수 (최대 20점):</a:t>
            </a:r>
            <a:endParaRPr sz="15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/>
              <a:t>· </a:t>
            </a:r>
            <a:r>
              <a:rPr lang="en-US" sz="1500">
                <a:latin typeface="Roboto Mono"/>
                <a:ea typeface="Roboto Mono"/>
                <a:cs typeface="Roboto Mono"/>
                <a:sym typeface="Roboto Mono"/>
              </a:rPr>
              <a:t>avg_return_rate</a:t>
            </a:r>
            <a:r>
              <a:rPr lang="en-US" sz="1500"/>
              <a:t> &gt; 8% = 20점 / 4~8% = 16점 / 0~4% = 12점 / -4~0% = 6점 / &lt;-4% = 0점</a:t>
            </a:r>
            <a:endParaRPr sz="15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/>
              <a:t>보너스/패널티 (최대 ±5점): 분산 투자(+3), 실손 미보유 상태의 고위험 투자(-2)</a:t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8c0b5c1df_0_27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자산 안정성(</a:t>
            </a:r>
            <a:r>
              <a:rPr lang="en-US"/>
              <a:t>1/3</a:t>
            </a:r>
            <a:r>
              <a:rPr lang="en-US"/>
              <a:t>) </a:t>
            </a:r>
            <a:endParaRPr/>
          </a:p>
        </p:txBody>
      </p:sp>
      <p:graphicFrame>
        <p:nvGraphicFramePr>
          <p:cNvPr id="297" name="Google Shape;297;g3d8c0b5c1df_0_27"/>
          <p:cNvGraphicFramePr/>
          <p:nvPr/>
        </p:nvGraphicFramePr>
        <p:xfrm>
          <a:off x="608175" y="18354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2581950"/>
                <a:gridCol w="907400"/>
                <a:gridCol w="2111750"/>
                <a:gridCol w="4957675"/>
              </a:tblGrid>
              <a:tr h="317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컬럼명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계열사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 테이블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계산 방법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balance_after (월말 기준)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B5D4F4"/>
                          </a:solidFill>
                          <a:highlight>
                            <a:srgbClr val="042C53"/>
                          </a:highlight>
                        </a:rPr>
                        <a:t>BNK</a:t>
                      </a:r>
                      <a:endParaRPr sz="1500">
                        <a:solidFill>
                          <a:srgbClr val="B5D4F4"/>
                        </a:solidFill>
                        <a:highlight>
                          <a:srgbClr val="042C53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bq_bank_transactions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월말 최신 잔액 추출. 전월·전전월 대비 변화율 계산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bank_avg_balance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B5D4F4"/>
                          </a:solidFill>
                          <a:highlight>
                            <a:srgbClr val="042C53"/>
                          </a:highlight>
                        </a:rPr>
                        <a:t>BNK</a:t>
                      </a:r>
                      <a:endParaRPr sz="1500">
                        <a:solidFill>
                          <a:srgbClr val="B5D4F4"/>
                        </a:solidFill>
                        <a:highlight>
                          <a:srgbClr val="042C53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월 평균 잔액 — 일시적 입금 왜곡 방지용 보조 지표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amount (DEPOSIT 합계)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B5D4F4"/>
                          </a:solidFill>
                          <a:highlight>
                            <a:srgbClr val="042C53"/>
                          </a:highlight>
                        </a:rPr>
                        <a:t>BNK</a:t>
                      </a:r>
                      <a:endParaRPr sz="1500">
                        <a:solidFill>
                          <a:srgbClr val="B5D4F4"/>
                        </a:solidFill>
                        <a:highlight>
                          <a:srgbClr val="042C53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bq_bank_transactions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월 총 입금액 — 수입 규모 추정 (급여·이자 포함)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monthly_spend_total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ECBF6"/>
                          </a:solidFill>
                          <a:highlight>
                            <a:srgbClr val="26215C"/>
                          </a:highlight>
                        </a:rPr>
                        <a:t>CRD</a:t>
                      </a:r>
                      <a:endParaRPr sz="1500">
                        <a:solidFill>
                          <a:srgbClr val="CECBF6"/>
                        </a:solidFill>
                        <a:highlight>
                          <a:srgbClr val="26215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입금 대비 지출 비율 → 저축 여력 계산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8" name="Google Shape;298;g3d8c0b5c1df_0_27"/>
          <p:cNvSpPr txBox="1"/>
          <p:nvPr/>
        </p:nvSpPr>
        <p:spPr>
          <a:xfrm>
            <a:off x="502225" y="1011800"/>
            <a:ext cx="5518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유동 자산 성장 추세(35%)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d8c0b5c1df_0_27"/>
          <p:cNvSpPr txBox="1"/>
          <p:nvPr/>
        </p:nvSpPr>
        <p:spPr>
          <a:xfrm>
            <a:off x="608175" y="4128800"/>
            <a:ext cx="10558800" cy="25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은행 잔액의 월별 추세가 핵심. 잔액 자체가 크더라도 감소 추세면 성장성 없음. 반대로 잔액이 작아도 꾸준히 늘고 있으면 성장성 있음 — 절대값이 아닌 변화율로 봐야 하는 이유.</a:t>
            </a:r>
            <a:endParaRPr sz="1300">
              <a:solidFill>
                <a:schemeClr val="dk1"/>
              </a:solidFill>
            </a:endParaRPr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잔액 성장률 = (당월 말 </a:t>
            </a:r>
            <a:r>
              <a:rPr lang="en-US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balance_after</a:t>
            </a:r>
            <a:r>
              <a:rPr lang="en-US" sz="1300">
                <a:solidFill>
                  <a:schemeClr val="dk1"/>
                </a:solidFill>
              </a:rPr>
              <a:t> - 2개월전 말 </a:t>
            </a:r>
            <a:r>
              <a:rPr lang="en-US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balance_after</a:t>
            </a:r>
            <a:r>
              <a:rPr lang="en-US" sz="1300">
                <a:solidFill>
                  <a:schemeClr val="dk1"/>
                </a:solidFill>
              </a:rPr>
              <a:t>) ÷ 2개월전 말 값</a:t>
            </a:r>
            <a:endParaRPr sz="1300">
              <a:solidFill>
                <a:schemeClr val="dk1"/>
              </a:solidFill>
            </a:endParaRPr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· &gt;10% 성장 → 35점 / 5~10% → 28점 / 0~5% → 20점 / -5~0% → 12점 / &lt;-5% → 4점</a:t>
            </a:r>
            <a:endParaRPr sz="1300">
              <a:solidFill>
                <a:schemeClr val="dk1"/>
              </a:solidFill>
            </a:endParaRPr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저축여력 = DEPOSIT 합계 - </a:t>
            </a:r>
            <a:r>
              <a:rPr lang="en-US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monthly_spend_total</a:t>
            </a:r>
            <a:r>
              <a:rPr lang="en-US" sz="1300">
                <a:solidFill>
                  <a:schemeClr val="dk1"/>
                </a:solidFill>
              </a:rPr>
              <a:t> — 양수면 +3점 보너스</a:t>
            </a:r>
            <a:endParaRPr sz="1300">
              <a:solidFill>
                <a:schemeClr val="dk1"/>
              </a:solidFill>
            </a:endParaRPr>
          </a:p>
          <a:p>
            <a:pPr indent="0" lvl="0" marL="139700" marR="139700" rtl="0" algn="l">
              <a:lnSpc>
                <a:spcPct val="17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30일 더미 데이터 한계: 추세 계산에는 최소 2개월치 필요. 데이터가 1개월치뿐이면 이 카테고리는 중간값(17점) 고정 처리하고 flag 기록 필요.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8c0b5c1df_0_78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자산 안정성(</a:t>
            </a:r>
            <a:r>
              <a:rPr lang="en-US"/>
              <a:t>2/3</a:t>
            </a:r>
            <a:r>
              <a:rPr lang="en-US"/>
              <a:t>) </a:t>
            </a:r>
            <a:endParaRPr/>
          </a:p>
        </p:txBody>
      </p:sp>
      <p:graphicFrame>
        <p:nvGraphicFramePr>
          <p:cNvPr id="306" name="Google Shape;306;g3d8c0b5c1df_0_78"/>
          <p:cNvGraphicFramePr/>
          <p:nvPr/>
        </p:nvGraphicFramePr>
        <p:xfrm>
          <a:off x="523913" y="148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1639325"/>
                <a:gridCol w="953475"/>
                <a:gridCol w="2350275"/>
                <a:gridCol w="5762750"/>
              </a:tblGrid>
              <a:tr h="322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컬럼명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계열사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 테이블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계산 방법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eval_amount</a:t>
                      </a:r>
                      <a:endParaRPr sz="115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9FE1CB"/>
                          </a:solidFill>
                          <a:highlight>
                            <a:srgbClr val="04342C"/>
                          </a:highlight>
                        </a:rPr>
                        <a:t>SEC</a:t>
                      </a:r>
                      <a:endParaRPr sz="1050">
                        <a:solidFill>
                          <a:srgbClr val="9FE1CB"/>
                        </a:solidFill>
                        <a:highlight>
                          <a:srgbClr val="04342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bq_securities_portfolio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종목별 현재 평가액. SUM으로 총 투자 자산 규모 산출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return_rate</a:t>
                      </a:r>
                      <a:endParaRPr sz="115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9FE1CB"/>
                          </a:solidFill>
                          <a:highlight>
                            <a:srgbClr val="04342C"/>
                          </a:highlight>
                        </a:rPr>
                        <a:t>SEC</a:t>
                      </a:r>
                      <a:endParaRPr sz="1050">
                        <a:solidFill>
                          <a:srgbClr val="9FE1CB"/>
                        </a:solidFill>
                        <a:highlight>
                          <a:srgbClr val="04342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bq_securities_portfolio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종목별 수익률. AVG로 포트폴리오 평균 수익률 계산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asset_type</a:t>
                      </a:r>
                      <a:endParaRPr sz="115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9FE1CB"/>
                          </a:solidFill>
                          <a:highlight>
                            <a:srgbClr val="04342C"/>
                          </a:highlight>
                        </a:rPr>
                        <a:t>SEC</a:t>
                      </a:r>
                      <a:endParaRPr sz="1050">
                        <a:solidFill>
                          <a:srgbClr val="9FE1CB"/>
                        </a:solidFill>
                        <a:highlight>
                          <a:srgbClr val="04342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bq_securities_portfolio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STOCK/FUND/ETF/BOND 혼합 여부 → 분산투자 보너스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sec_total_eval</a:t>
                      </a:r>
                      <a:endParaRPr sz="115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9FE1CB"/>
                          </a:solidFill>
                          <a:highlight>
                            <a:srgbClr val="04342C"/>
                          </a:highlight>
                        </a:rPr>
                        <a:t>SEC</a:t>
                      </a:r>
                      <a:endParaRPr sz="1050">
                        <a:solidFill>
                          <a:srgbClr val="9FE1CB"/>
                        </a:solidFill>
                        <a:highlight>
                          <a:srgbClr val="04342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bq_curated_unified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Curated 집계값 — 빠른 조회용 보조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7" name="Google Shape;307;g3d8c0b5c1df_0_78"/>
          <p:cNvSpPr txBox="1"/>
          <p:nvPr/>
        </p:nvSpPr>
        <p:spPr>
          <a:xfrm>
            <a:off x="441375" y="3438875"/>
            <a:ext cx="11064300" cy="32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3C3489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/>
              <a:t>증권 평가액과 수익률이 핵심. 단, 수익률만 보면 위험 추구형(고수익·고변동)과 안정형이 구분 안 됨. 평가액 규모 + 수익률 + 거래 다양성(ETF·펀드 혼합 여부)을 함께 봐야 실질 투자 성장성 측정 가능.</a:t>
            </a:r>
            <a:endParaRPr sz="12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수익률 점수 (20점): </a:t>
            </a:r>
            <a:r>
              <a:rPr lang="en-US" sz="1150">
                <a:latin typeface="Roboto Mono"/>
                <a:ea typeface="Roboto Mono"/>
                <a:cs typeface="Roboto Mono"/>
                <a:sym typeface="Roboto Mono"/>
              </a:rPr>
              <a:t>avg_return_rate</a:t>
            </a:r>
            <a:endParaRPr sz="11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· &gt;8% → 20점 / 4~8% → 16점 / 0~4% → 12점 / -4~0% → 6점 / &lt;-4% → 0점</a:t>
            </a:r>
            <a:endParaRPr sz="12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규모 점수 (15점): </a:t>
            </a:r>
            <a:r>
              <a:rPr lang="en-US" sz="1150">
                <a:latin typeface="Roboto Mono"/>
                <a:ea typeface="Roboto Mono"/>
                <a:cs typeface="Roboto Mono"/>
                <a:sym typeface="Roboto Mono"/>
              </a:rPr>
              <a:t>sec_total_eval</a:t>
            </a:r>
            <a:r>
              <a:rPr lang="en-US" sz="1200"/>
              <a:t> 분위수 기반 (고객 전체 중 상위 20% 이내 → 15점, 하위 20% → 3점)</a:t>
            </a:r>
            <a:endParaRPr sz="12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분산 보너스: </a:t>
            </a:r>
            <a:r>
              <a:rPr lang="en-US" sz="1150">
                <a:latin typeface="Roboto Mono"/>
                <a:ea typeface="Roboto Mono"/>
                <a:cs typeface="Roboto Mono"/>
                <a:sym typeface="Roboto Mono"/>
              </a:rPr>
              <a:t>asset_type</a:t>
            </a:r>
            <a:r>
              <a:rPr lang="en-US" sz="1200"/>
              <a:t> 2종 이상 → +3점 / 3~4종 → +5점 (35점 cap)</a:t>
            </a:r>
            <a:endParaRPr sz="1200"/>
          </a:p>
          <a:p>
            <a:pPr indent="0" lvl="0" marL="139700" marR="139700" rtl="0" algn="l">
              <a:lnSpc>
                <a:spcPct val="17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200"/>
              <a:t>증권 미가입(sec_id = NULL)이면 이 카테고리 전체 0점. 전체 점수에서 증권 미가입자가 55%로 과반이므로, LifeSync Score 통합 시 자산 성장성 가중치 조정 또는 미가입 시 ①번만으로 환산하는 로직 필요.</a:t>
            </a:r>
            <a:endParaRPr sz="1200"/>
          </a:p>
        </p:txBody>
      </p:sp>
      <p:sp>
        <p:nvSpPr>
          <p:cNvPr id="308" name="Google Shape;308;g3d8c0b5c1df_0_78"/>
          <p:cNvSpPr txBox="1"/>
          <p:nvPr/>
        </p:nvSpPr>
        <p:spPr>
          <a:xfrm>
            <a:off x="441375" y="842300"/>
            <a:ext cx="40740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투자 자산 성과(35%)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8c0b5c1df_0_93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자산 안정성(3/3)</a:t>
            </a:r>
            <a:endParaRPr/>
          </a:p>
        </p:txBody>
      </p:sp>
      <p:sp>
        <p:nvSpPr>
          <p:cNvPr id="315" name="Google Shape;315;g3d8c0b5c1df_0_93"/>
          <p:cNvSpPr txBox="1"/>
          <p:nvPr/>
        </p:nvSpPr>
        <p:spPr>
          <a:xfrm>
            <a:off x="441375" y="943125"/>
            <a:ext cx="51372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보험 자산 보호력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(30%)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6" name="Google Shape;316;g3d8c0b5c1df_0_93"/>
          <p:cNvGraphicFramePr/>
          <p:nvPr/>
        </p:nvGraphicFramePr>
        <p:xfrm>
          <a:off x="608175" y="1778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2528775"/>
                <a:gridCol w="1057275"/>
                <a:gridCol w="2505075"/>
                <a:gridCol w="52231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컬럼명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계열사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 테이블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계산 방법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insurance_active_count</a:t>
                      </a:r>
                      <a:endParaRPr sz="115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FAC775"/>
                          </a:solidFill>
                          <a:highlight>
                            <a:srgbClr val="412402"/>
                          </a:highlight>
                        </a:rPr>
                        <a:t>INS</a:t>
                      </a:r>
                      <a:endParaRPr sz="1050">
                        <a:solidFill>
                          <a:srgbClr val="FAC775"/>
                        </a:solidFill>
                        <a:highlight>
                          <a:srgbClr val="412402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bq_curated_unified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유효 보험 가입 건수 — 커버리지 다양성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has_realexpense</a:t>
                      </a:r>
                      <a:endParaRPr sz="115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FAC775"/>
                          </a:solidFill>
                          <a:highlight>
                            <a:srgbClr val="412402"/>
                          </a:highlight>
                        </a:rPr>
                        <a:t>INS</a:t>
                      </a:r>
                      <a:endParaRPr sz="1050">
                        <a:solidFill>
                          <a:srgbClr val="FAC775"/>
                        </a:solidFill>
                        <a:highlight>
                          <a:srgbClr val="412402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bq_curated_unified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실손보험 여부 — 의료비 충격 흡수 핵심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product_category</a:t>
                      </a:r>
                      <a:endParaRPr sz="115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FAC775"/>
                          </a:solidFill>
                          <a:highlight>
                            <a:srgbClr val="412402"/>
                          </a:highlight>
                        </a:rPr>
                        <a:t>INS</a:t>
                      </a:r>
                      <a:endParaRPr sz="1050">
                        <a:solidFill>
                          <a:srgbClr val="FAC775"/>
                        </a:solidFill>
                        <a:highlight>
                          <a:srgbClr val="412402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bq_insurance_policies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LIFE/HEALTH/AUTO/FIRE → 보장 유형 다양성 측정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monthly_premium_total</a:t>
                      </a:r>
                      <a:endParaRPr sz="115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FAC775"/>
                          </a:solidFill>
                          <a:highlight>
                            <a:srgbClr val="412402"/>
                          </a:highlight>
                        </a:rPr>
                        <a:t>INS</a:t>
                      </a:r>
                      <a:endParaRPr sz="1050">
                        <a:solidFill>
                          <a:srgbClr val="FAC775"/>
                        </a:solidFill>
                        <a:highlight>
                          <a:srgbClr val="412402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bq_curated_unified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보험료 규모 — 과소보험(너무 낮음) 여부 체크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7" name="Google Shape;317;g3d8c0b5c1df_0_93"/>
          <p:cNvSpPr txBox="1"/>
          <p:nvPr/>
        </p:nvSpPr>
        <p:spPr>
          <a:xfrm>
            <a:off x="608163" y="3765775"/>
            <a:ext cx="114387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854F0B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/>
              <a:t>자산 성장성은 공격(증가)만이 아님. 병원비·사고로 자산이 갑자기 증발하는 걸 막는 보험 커버리지도 성장성의 방어면. 보험 없이 증권만 있으면 한 번의 위기로 자산 성장이 무너질 수 있음.</a:t>
            </a:r>
            <a:endParaRPr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기본 보험 커버리지 (20점): </a:t>
            </a:r>
            <a:r>
              <a:rPr lang="en-US" sz="1350">
                <a:latin typeface="Roboto Mono"/>
                <a:ea typeface="Roboto Mono"/>
                <a:cs typeface="Roboto Mono"/>
                <a:sym typeface="Roboto Mono"/>
              </a:rPr>
              <a:t>insurance_active_count</a:t>
            </a:r>
            <a:endParaRPr sz="13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· 3건+ → 20점 / 2건 → 15점 / 1건 → 8점 / 0건 → 0점</a:t>
            </a:r>
            <a:endParaRPr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실손 보유 (</a:t>
            </a:r>
            <a:r>
              <a:rPr lang="en-US" sz="1350">
                <a:latin typeface="Roboto Mono"/>
                <a:ea typeface="Roboto Mono"/>
                <a:cs typeface="Roboto Mono"/>
                <a:sym typeface="Roboto Mono"/>
              </a:rPr>
              <a:t>has_realexpense=TRUE</a:t>
            </a:r>
            <a:r>
              <a:rPr lang="en-US"/>
              <a:t>) → +7점</a:t>
            </a:r>
            <a:endParaRPr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보장 다양성: </a:t>
            </a:r>
            <a:r>
              <a:rPr lang="en-US" sz="1350">
                <a:latin typeface="Roboto Mono"/>
                <a:ea typeface="Roboto Mono"/>
                <a:cs typeface="Roboto Mono"/>
                <a:sym typeface="Roboto Mono"/>
              </a:rPr>
              <a:t>product_category</a:t>
            </a:r>
            <a:r>
              <a:rPr lang="en-US"/>
              <a:t> 2종+ → +3점 (30점 cap)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8c0b5c1df_0_105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소비안정성(</a:t>
            </a:r>
            <a:r>
              <a:rPr lang="en-US"/>
              <a:t>1/4</a:t>
            </a:r>
            <a:r>
              <a:rPr lang="en-US"/>
              <a:t>)</a:t>
            </a:r>
            <a:endParaRPr/>
          </a:p>
        </p:txBody>
      </p:sp>
      <p:graphicFrame>
        <p:nvGraphicFramePr>
          <p:cNvPr id="324" name="Google Shape;324;g3d8c0b5c1df_0_105"/>
          <p:cNvGraphicFramePr/>
          <p:nvPr/>
        </p:nvGraphicFramePr>
        <p:xfrm>
          <a:off x="696888" y="1637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3483575"/>
                <a:gridCol w="895525"/>
                <a:gridCol w="1880600"/>
                <a:gridCol w="47626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컬럼명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계열사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 테이블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활용 방법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amount (WITHDRAW/TRANSFER)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B5D4F4"/>
                          </a:solidFill>
                          <a:highlight>
                            <a:srgbClr val="042C53"/>
                          </a:highlight>
                        </a:rPr>
                        <a:t>BNK</a:t>
                      </a:r>
                      <a:endParaRPr sz="1500">
                        <a:solidFill>
                          <a:srgbClr val="B5D4F4"/>
                        </a:solidFill>
                        <a:highlight>
                          <a:srgbClr val="042C53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월 은행 출금+이체 총액 → 카드 합산 기반 실지출 추정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spend_ratio_food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ECBF6"/>
                          </a:solidFill>
                          <a:highlight>
                            <a:srgbClr val="26215C"/>
                          </a:highlight>
                        </a:rPr>
                        <a:t>CRD</a:t>
                      </a:r>
                      <a:endParaRPr sz="1500">
                        <a:solidFill>
                          <a:srgbClr val="CECBF6"/>
                        </a:solidFill>
                        <a:highlight>
                          <a:srgbClr val="26215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필수지출 비율 측정 (food+transport+medical = 필수)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spend_ratio_transport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ECBF6"/>
                          </a:solidFill>
                          <a:highlight>
                            <a:srgbClr val="26215C"/>
                          </a:highlight>
                        </a:rPr>
                        <a:t>CRD</a:t>
                      </a:r>
                      <a:endParaRPr sz="1500">
                        <a:solidFill>
                          <a:srgbClr val="CECBF6"/>
                        </a:solidFill>
                        <a:highlight>
                          <a:srgbClr val="26215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위 동일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spend_ratio_medical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ECBF6"/>
                          </a:solidFill>
                          <a:highlight>
                            <a:srgbClr val="26215C"/>
                          </a:highlight>
                        </a:rPr>
                        <a:t>CRD</a:t>
                      </a:r>
                      <a:endParaRPr sz="1500">
                        <a:solidFill>
                          <a:srgbClr val="CECBF6"/>
                        </a:solidFill>
                        <a:highlight>
                          <a:srgbClr val="26215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위 동일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monthly_spend_total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CECBF6"/>
                          </a:solidFill>
                          <a:highlight>
                            <a:srgbClr val="26215C"/>
                          </a:highlight>
                        </a:rPr>
                        <a:t>CRD</a:t>
                      </a:r>
                      <a:endParaRPr sz="1500">
                        <a:solidFill>
                          <a:srgbClr val="CECBF6"/>
                        </a:solidFill>
                        <a:highlight>
                          <a:srgbClr val="26215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전월 대비 변동률 계산 (±30% 초과 = 불안정 감점)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5" name="Google Shape;325;g3d8c0b5c1df_0_105"/>
          <p:cNvSpPr txBox="1"/>
          <p:nvPr/>
        </p:nvSpPr>
        <p:spPr>
          <a:xfrm>
            <a:off x="696900" y="4666250"/>
            <a:ext cx="10585200" cy="15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5FA5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/>
              <a:t>카드만 보면 현금·이체 지출이 빠짐. 은행 이체(TRANSFER) + 카드 결제를 합산해야 실제 월 지출 구조를 볼 수 있음. 필수지출(의료·교통·식비) 비율이 높고 변동이 작을수록 안정.</a:t>
            </a:r>
            <a:endParaRPr sz="15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/>
              <a:t>필수지출비율 = (</a:t>
            </a:r>
            <a:r>
              <a:rPr lang="en-US" sz="1500">
                <a:latin typeface="Roboto Mono"/>
                <a:ea typeface="Roboto Mono"/>
                <a:cs typeface="Roboto Mono"/>
                <a:sym typeface="Roboto Mono"/>
              </a:rPr>
              <a:t>spend_ratio_food</a:t>
            </a:r>
            <a:r>
              <a:rPr lang="en-US" sz="1500"/>
              <a:t> + </a:t>
            </a:r>
            <a:r>
              <a:rPr lang="en-US" sz="1500">
                <a:latin typeface="Roboto Mono"/>
                <a:ea typeface="Roboto Mono"/>
                <a:cs typeface="Roboto Mono"/>
                <a:sym typeface="Roboto Mono"/>
              </a:rPr>
              <a:t>spend_ratio_transport</a:t>
            </a:r>
            <a:r>
              <a:rPr lang="en-US" sz="1500"/>
              <a:t> + </a:t>
            </a:r>
            <a:r>
              <a:rPr lang="en-US" sz="1500">
                <a:latin typeface="Roboto Mono"/>
                <a:ea typeface="Roboto Mono"/>
                <a:cs typeface="Roboto Mono"/>
                <a:sym typeface="Roboto Mono"/>
              </a:rPr>
              <a:t>spend_ratio_medical</a:t>
            </a:r>
            <a:r>
              <a:rPr lang="en-US" sz="1500"/>
              <a:t>) × 100</a:t>
            </a:r>
            <a:endParaRPr sz="15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/>
              <a:t>· 40~70% → 만점 30점 / 30~39% 또는 71~80% → 22점 / 20~29% 또는 81~90% → 14점 / &lt;20% 또는 &gt;90% → 6점</a:t>
            </a:r>
            <a:endParaRPr sz="15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/>
              <a:t>· 전월 대비 총지출 변동 &gt;30% → -3점 (월별 급변 패널티)</a:t>
            </a:r>
            <a:endParaRPr sz="1500"/>
          </a:p>
        </p:txBody>
      </p:sp>
      <p:sp>
        <p:nvSpPr>
          <p:cNvPr id="326" name="Google Shape;326;g3d8c0b5c1df_0_105"/>
          <p:cNvSpPr txBox="1"/>
          <p:nvPr/>
        </p:nvSpPr>
        <p:spPr>
          <a:xfrm>
            <a:off x="568125" y="1017800"/>
            <a:ext cx="40872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지출 구조 안정성(30%)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8c0b5c1df_0_126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소비안정성(2/4)</a:t>
            </a:r>
            <a:endParaRPr/>
          </a:p>
        </p:txBody>
      </p:sp>
      <p:sp>
        <p:nvSpPr>
          <p:cNvPr id="333" name="Google Shape;333;g3d8c0b5c1df_0_126"/>
          <p:cNvSpPr txBox="1"/>
          <p:nvPr/>
        </p:nvSpPr>
        <p:spPr>
          <a:xfrm>
            <a:off x="332725" y="1107750"/>
            <a:ext cx="77766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2. </a:t>
            </a:r>
            <a:r>
              <a:rPr lang="en-US" sz="2800">
                <a:solidFill>
                  <a:schemeClr val="dk1"/>
                </a:solidFill>
              </a:rPr>
              <a:t>부채·보험료 부담 적정성(25%)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4" name="Google Shape;334;g3d8c0b5c1df_0_126"/>
          <p:cNvGraphicFramePr/>
          <p:nvPr/>
        </p:nvGraphicFramePr>
        <p:xfrm>
          <a:off x="608200" y="192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2635300"/>
                <a:gridCol w="720700"/>
                <a:gridCol w="1710775"/>
                <a:gridCol w="42587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컬럼명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계열사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 테이블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활용 방법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installment_months</a:t>
                      </a:r>
                      <a:r>
                        <a:rPr lang="en-US" sz="1200"/>
                        <a:t> (&gt;0 건수·금액)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CECBF6"/>
                          </a:solidFill>
                          <a:highlight>
                            <a:srgbClr val="26215C"/>
                          </a:highlight>
                        </a:rPr>
                        <a:t>CRD</a:t>
                      </a:r>
                      <a:endParaRPr sz="1050">
                        <a:solidFill>
                          <a:srgbClr val="CECBF6"/>
                        </a:solidFill>
                        <a:highlight>
                          <a:srgbClr val="26215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bq_curated_unified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카드 할부 잔여 부채 추정 (건당 금액×잔여개월 합산)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monthly_premium_total</a:t>
                      </a:r>
                      <a:endParaRPr sz="115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FAC775"/>
                          </a:solidFill>
                          <a:highlight>
                            <a:srgbClr val="412402"/>
                          </a:highlight>
                        </a:rPr>
                        <a:t>INS</a:t>
                      </a:r>
                      <a:endParaRPr sz="1050">
                        <a:solidFill>
                          <a:srgbClr val="FAC775"/>
                        </a:solidFill>
                        <a:highlight>
                          <a:srgbClr val="412402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bq_curated_unified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월 고정 보험료 합계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bank_avg_balance</a:t>
                      </a:r>
                      <a:endParaRPr sz="115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B5D4F4"/>
                          </a:solidFill>
                          <a:highlight>
                            <a:srgbClr val="042C53"/>
                          </a:highlight>
                        </a:rPr>
                        <a:t>BNK</a:t>
                      </a:r>
                      <a:endParaRPr sz="1050">
                        <a:solidFill>
                          <a:srgbClr val="B5D4F4"/>
                        </a:solidFill>
                        <a:highlight>
                          <a:srgbClr val="042C53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bq_curated_unified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분모: 유동성 기준값. (할부추정+보험료)/잔액 비율 산출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/>
                        <a:t>payment_status</a:t>
                      </a:r>
                      <a:r>
                        <a:rPr lang="en-US" sz="1200"/>
                        <a:t> (OVERDUE 여부)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FAC775"/>
                          </a:solidFill>
                          <a:highlight>
                            <a:srgbClr val="412402"/>
                          </a:highlight>
                        </a:rPr>
                        <a:t>INS</a:t>
                      </a:r>
                      <a:endParaRPr sz="1050">
                        <a:solidFill>
                          <a:srgbClr val="FAC775"/>
                        </a:solidFill>
                        <a:highlight>
                          <a:srgbClr val="412402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bq_insurance_policies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연체 발생 시 즉시 -10점 패널티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5" name="Google Shape;335;g3d8c0b5c1df_0_126"/>
          <p:cNvSpPr txBox="1"/>
          <p:nvPr/>
        </p:nvSpPr>
        <p:spPr>
          <a:xfrm>
            <a:off x="608175" y="4018335"/>
            <a:ext cx="11174400" cy="21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카드 할부는 사실상 단기 부채. 보험료는 고정 지출이지만 과도하면 유동성 압박. 은행 잔액 대비 고정 의무 지출(할부+보험료) 비율로 부채 부담을 측정.</a:t>
            </a:r>
            <a:endParaRPr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부담비율 = (</a:t>
            </a:r>
            <a:r>
              <a:rPr lang="en-US" sz="1350">
                <a:latin typeface="Roboto Mono"/>
                <a:ea typeface="Roboto Mono"/>
                <a:cs typeface="Roboto Mono"/>
                <a:sym typeface="Roboto Mono"/>
              </a:rPr>
              <a:t>installment_추정액</a:t>
            </a:r>
            <a:r>
              <a:rPr lang="en-US"/>
              <a:t> + </a:t>
            </a:r>
            <a:r>
              <a:rPr lang="en-US" sz="1350">
                <a:latin typeface="Roboto Mono"/>
                <a:ea typeface="Roboto Mono"/>
                <a:cs typeface="Roboto Mono"/>
                <a:sym typeface="Roboto Mono"/>
              </a:rPr>
              <a:t>monthly_premium_total</a:t>
            </a:r>
            <a:r>
              <a:rPr lang="en-US"/>
              <a:t>) ÷ </a:t>
            </a:r>
            <a:r>
              <a:rPr lang="en-US" sz="1350">
                <a:latin typeface="Roboto Mono"/>
                <a:ea typeface="Roboto Mono"/>
                <a:cs typeface="Roboto Mono"/>
                <a:sym typeface="Roboto Mono"/>
              </a:rPr>
              <a:t>bank_avg_balance</a:t>
            </a:r>
            <a:endParaRPr sz="135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· &lt;15% → 25점 / 15~25% → 20점 / 25~35% → 14점 / 35~50% → 8점 / &gt;50% → 2점</a:t>
            </a:r>
            <a:endParaRPr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· </a:t>
            </a:r>
            <a:r>
              <a:rPr lang="en-US" sz="1350">
                <a:latin typeface="Roboto Mono"/>
                <a:ea typeface="Roboto Mono"/>
                <a:cs typeface="Roboto Mono"/>
                <a:sym typeface="Roboto Mono"/>
              </a:rPr>
              <a:t>payment_status=OVERDUE</a:t>
            </a:r>
            <a:r>
              <a:rPr lang="en-US"/>
              <a:t> 존재 시 -10점 (하드 패널티)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8c0b5c1df_0_140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소비안정성(</a:t>
            </a:r>
            <a:r>
              <a:rPr lang="en-US"/>
              <a:t>3/4</a:t>
            </a:r>
            <a:r>
              <a:rPr lang="en-US"/>
              <a:t>)</a:t>
            </a:r>
            <a:endParaRPr/>
          </a:p>
        </p:txBody>
      </p:sp>
      <p:sp>
        <p:nvSpPr>
          <p:cNvPr id="342" name="Google Shape;342;g3d8c0b5c1df_0_140"/>
          <p:cNvSpPr txBox="1"/>
          <p:nvPr/>
        </p:nvSpPr>
        <p:spPr>
          <a:xfrm>
            <a:off x="332725" y="1107750"/>
            <a:ext cx="50919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3</a:t>
            </a:r>
            <a:r>
              <a:rPr lang="en-US" sz="2800">
                <a:solidFill>
                  <a:schemeClr val="dk1"/>
                </a:solidFill>
              </a:rPr>
              <a:t>. </a:t>
            </a:r>
            <a:r>
              <a:rPr lang="en-US" sz="2800">
                <a:solidFill>
                  <a:schemeClr val="dk1"/>
                </a:solidFill>
              </a:rPr>
              <a:t>저축</a:t>
            </a:r>
            <a:r>
              <a:rPr lang="en-US" sz="2800">
                <a:solidFill>
                  <a:schemeClr val="dk1"/>
                </a:solidFill>
              </a:rPr>
              <a:t>·자산 축적 여력</a:t>
            </a:r>
            <a:r>
              <a:rPr lang="en-US" sz="2800">
                <a:solidFill>
                  <a:schemeClr val="dk1"/>
                </a:solidFill>
              </a:rPr>
              <a:t>(25%)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3" name="Google Shape;343;g3d8c0b5c1df_0_140"/>
          <p:cNvGraphicFramePr/>
          <p:nvPr/>
        </p:nvGraphicFramePr>
        <p:xfrm>
          <a:off x="514675" y="180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2795050"/>
                <a:gridCol w="822525"/>
                <a:gridCol w="2213125"/>
                <a:gridCol w="39177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컬럼명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계열사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 테이블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활용 방법</a:t>
                      </a:r>
                      <a:endParaRPr sz="15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bank_avg_balance (3개월 추세)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B5D4F4"/>
                          </a:solidFill>
                          <a:highlight>
                            <a:srgbClr val="042C53"/>
                          </a:highlight>
                        </a:rPr>
                        <a:t>BNK</a:t>
                      </a:r>
                      <a:endParaRPr sz="1500">
                        <a:solidFill>
                          <a:srgbClr val="B5D4F4"/>
                        </a:solidFill>
                        <a:highlight>
                          <a:srgbClr val="042C53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전전월→전월→당월 잔액 추세 계산 (증가=+)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sec_total_eval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9FE1CB"/>
                          </a:solidFill>
                          <a:highlight>
                            <a:srgbClr val="04342C"/>
                          </a:highlight>
                        </a:rPr>
                        <a:t>SEC</a:t>
                      </a:r>
                      <a:endParaRPr sz="1500">
                        <a:solidFill>
                          <a:srgbClr val="9FE1CB"/>
                        </a:solidFill>
                        <a:highlight>
                          <a:srgbClr val="04342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증권 자산 보유 여부 및 규모 (0=0점, 보유=가산)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avg_return_rate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9FE1CB"/>
                          </a:solidFill>
                          <a:highlight>
                            <a:srgbClr val="04342C"/>
                          </a:highlight>
                        </a:rPr>
                        <a:t>SEC</a:t>
                      </a:r>
                      <a:endParaRPr sz="1500">
                        <a:solidFill>
                          <a:srgbClr val="9FE1CB"/>
                        </a:solidFill>
                        <a:highlight>
                          <a:srgbClr val="04342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bq_curated_unified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수익률 양수=안정, 음수 폭 클수록 감점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balance_after 시계열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B5D4F4"/>
                          </a:solidFill>
                          <a:highlight>
                            <a:srgbClr val="042C53"/>
                          </a:highlight>
                        </a:rPr>
                        <a:t>BNK</a:t>
                      </a:r>
                      <a:endParaRPr sz="1500">
                        <a:solidFill>
                          <a:srgbClr val="B5D4F4"/>
                        </a:solidFill>
                        <a:highlight>
                          <a:srgbClr val="042C53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bq_bank_transactions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월말 잔액 3개월 이동평균 계산용</a:t>
                      </a:r>
                      <a:endParaRPr sz="15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4" name="Google Shape;344;g3d8c0b5c1df_0_140"/>
          <p:cNvSpPr txBox="1"/>
          <p:nvPr/>
        </p:nvSpPr>
        <p:spPr>
          <a:xfrm>
            <a:off x="514675" y="3894975"/>
            <a:ext cx="9692400" cy="25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F6E56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/>
              <a:t>카드 소비만 보면 "많이 쓰는 사람"이 불안정해 보이지만, 증권 평가액이나 은행 잔액이 꾸준히 늘고 있으면 실제로는 안정적. 수입-지출 여력(잉여)과 자산 증가 추세를 함께 봐야 함.</a:t>
            </a:r>
            <a:endParaRPr sz="13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/>
              <a:t>잔액 3개월 추세: (당월잔액 - 3개월전잔액) ÷ 3개월전잔액</a:t>
            </a:r>
            <a:endParaRPr sz="13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/>
              <a:t>· 증가 &gt;5% → 25점 / 0~5% → 20점 / -5~0% → 14점 / -10~-5% → 8점 / &lt;-10% → 2점</a:t>
            </a:r>
            <a:endParaRPr sz="13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/>
              <a:t>· 증권 보유(</a:t>
            </a:r>
            <a:r>
              <a:rPr lang="en-US" sz="1300">
                <a:latin typeface="Roboto Mono"/>
                <a:ea typeface="Roboto Mono"/>
                <a:cs typeface="Roboto Mono"/>
                <a:sym typeface="Roboto Mono"/>
              </a:rPr>
              <a:t>sec_total_eval</a:t>
            </a:r>
            <a:r>
              <a:rPr lang="en-US" sz="1300"/>
              <a:t> &gt;0) 시 +3점 보너스 (분산 자산 보유 가산)</a:t>
            </a:r>
            <a:endParaRPr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8c0b5c1df_0_152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소비안정성(4/4)</a:t>
            </a:r>
            <a:endParaRPr/>
          </a:p>
        </p:txBody>
      </p:sp>
      <p:sp>
        <p:nvSpPr>
          <p:cNvPr id="351" name="Google Shape;351;g3d8c0b5c1df_0_152"/>
          <p:cNvSpPr txBox="1"/>
          <p:nvPr/>
        </p:nvSpPr>
        <p:spPr>
          <a:xfrm>
            <a:off x="332725" y="1107750"/>
            <a:ext cx="71961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4</a:t>
            </a:r>
            <a:r>
              <a:rPr lang="en-US" sz="2800">
                <a:solidFill>
                  <a:schemeClr val="dk1"/>
                </a:solidFill>
              </a:rPr>
              <a:t>. </a:t>
            </a:r>
            <a:r>
              <a:rPr lang="en-US" sz="2800">
                <a:solidFill>
                  <a:schemeClr val="dk1"/>
                </a:solidFill>
              </a:rPr>
              <a:t>의료비</a:t>
            </a:r>
            <a:r>
              <a:rPr lang="en-US" sz="2800">
                <a:solidFill>
                  <a:schemeClr val="dk1"/>
                </a:solidFill>
              </a:rPr>
              <a:t>·</a:t>
            </a:r>
            <a:r>
              <a:rPr lang="en-US" sz="2800">
                <a:solidFill>
                  <a:schemeClr val="dk1"/>
                </a:solidFill>
              </a:rPr>
              <a:t>건강 관련 지출 예측 가능성</a:t>
            </a:r>
            <a:r>
              <a:rPr lang="en-US" sz="2800">
                <a:solidFill>
                  <a:schemeClr val="dk1"/>
                </a:solidFill>
              </a:rPr>
              <a:t>(20%)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2" name="Google Shape;352;g3d8c0b5c1df_0_152"/>
          <p:cNvGraphicFramePr/>
          <p:nvPr/>
        </p:nvGraphicFramePr>
        <p:xfrm>
          <a:off x="391975" y="193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3335125"/>
                <a:gridCol w="801075"/>
                <a:gridCol w="1917275"/>
                <a:gridCol w="4409625"/>
              </a:tblGrid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컬럼명</a:t>
                      </a:r>
                      <a:endParaRPr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계열사</a:t>
                      </a:r>
                      <a:endParaRPr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BQ 테이블</a:t>
                      </a:r>
                      <a:endParaRPr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활용 방법</a:t>
                      </a:r>
                      <a:endParaRPr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visit_type (OUTPATIENT/INPATIENT)</a:t>
                      </a:r>
                      <a:endParaRPr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C4B3"/>
                          </a:solidFill>
                          <a:highlight>
                            <a:srgbClr val="4A1B0C"/>
                          </a:highlight>
                        </a:rPr>
                        <a:t>HOS</a:t>
                      </a:r>
                      <a:endParaRPr>
                        <a:solidFill>
                          <a:srgbClr val="F5C4B3"/>
                        </a:solidFill>
                        <a:highlight>
                          <a:srgbClr val="4A1B0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bq_hospital_records</a:t>
                      </a:r>
                      <a:endParaRPr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최근 3개월 외래·입원 방문 건수 추세</a:t>
                      </a:r>
                      <a:endParaRPr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icd10_code</a:t>
                      </a:r>
                      <a:endParaRPr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C4B3"/>
                          </a:solidFill>
                          <a:highlight>
                            <a:srgbClr val="4A1B0C"/>
                          </a:highlight>
                        </a:rPr>
                        <a:t>HOS</a:t>
                      </a:r>
                      <a:endParaRPr>
                        <a:solidFill>
                          <a:srgbClr val="F5C4B3"/>
                        </a:solidFill>
                        <a:highlight>
                          <a:srgbClr val="4A1B0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bq_hospital_records</a:t>
                      </a:r>
                      <a:endParaRPr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만성질환 코드 존재 시 향후 지속 의료비 예측 감점</a:t>
                      </a:r>
                      <a:endParaRPr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spend_ratio_medical</a:t>
                      </a:r>
                      <a:endParaRPr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CECBF6"/>
                          </a:solidFill>
                          <a:highlight>
                            <a:srgbClr val="26215C"/>
                          </a:highlight>
                        </a:rPr>
                        <a:t>CRD</a:t>
                      </a:r>
                      <a:endParaRPr>
                        <a:solidFill>
                          <a:srgbClr val="CECBF6"/>
                        </a:solidFill>
                        <a:highlight>
                          <a:srgbClr val="26215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bq_curated_unified</a:t>
                      </a:r>
                      <a:endParaRPr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카드 의료 지출 비율 (병원 데이터와 교차 검증)</a:t>
                      </a:r>
                      <a:endParaRPr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has_realexpense</a:t>
                      </a:r>
                      <a:endParaRPr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AC775"/>
                          </a:solidFill>
                          <a:highlight>
                            <a:srgbClr val="412402"/>
                          </a:highlight>
                        </a:rPr>
                        <a:t>INS</a:t>
                      </a:r>
                      <a:endParaRPr>
                        <a:solidFill>
                          <a:srgbClr val="FAC775"/>
                        </a:solidFill>
                        <a:highlight>
                          <a:srgbClr val="412402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bq_curated_unified</a:t>
                      </a:r>
                      <a:endParaRPr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실손보험 보유=의료비 충격 흡수 가능 → +5점 보너스</a:t>
                      </a:r>
                      <a:endParaRPr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3" name="Google Shape;353;g3d8c0b5c1df_0_152"/>
          <p:cNvSpPr txBox="1"/>
          <p:nvPr/>
        </p:nvSpPr>
        <p:spPr>
          <a:xfrm>
            <a:off x="391975" y="4386325"/>
            <a:ext cx="10611600" cy="21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712B13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/>
              <a:t>갑작스러운 의료비가 소비 안정성을 무너뜨리는 가장 흔한 원인. 병원 방문 빈도가 급증하거나 처방약 지출이 갑자기 늘면 향후 지출 불안정 신호. 카드 의료 카테고리만으로는 부족 — 병원 데이터와 교차 필요.</a:t>
            </a:r>
            <a:endParaRPr sz="12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기본 20점에서 차감 방식:</a:t>
            </a:r>
            <a:endParaRPr sz="12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· 3개월 방문 건수 &gt; 전분기 대비 2배 이상 급증 → -6점</a:t>
            </a:r>
            <a:endParaRPr sz="12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· 만성질환 ICD10 코드 존재(</a:t>
            </a:r>
            <a:r>
              <a:rPr lang="en-US" sz="1150">
                <a:latin typeface="Roboto Mono"/>
                <a:ea typeface="Roboto Mono"/>
                <a:cs typeface="Roboto Mono"/>
                <a:sym typeface="Roboto Mono"/>
              </a:rPr>
              <a:t>icd10_code</a:t>
            </a:r>
            <a:r>
              <a:rPr lang="en-US" sz="1200"/>
              <a:t> NOT NULL) → -4점</a:t>
            </a:r>
            <a:endParaRPr sz="12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· 실손보험 보유(</a:t>
            </a:r>
            <a:r>
              <a:rPr lang="en-US" sz="1150">
                <a:latin typeface="Roboto Mono"/>
                <a:ea typeface="Roboto Mono"/>
                <a:cs typeface="Roboto Mono"/>
                <a:sym typeface="Roboto Mono"/>
              </a:rPr>
              <a:t>has_realexpense=TRUE</a:t>
            </a:r>
            <a:r>
              <a:rPr lang="en-US" sz="1200"/>
              <a:t>) → +5점 (상쇄 가능)</a:t>
            </a:r>
            <a:endParaRPr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8c0b5c1df_0_182"/>
          <p:cNvSpPr txBox="1"/>
          <p:nvPr>
            <p:ph type="title"/>
          </p:nvPr>
        </p:nvSpPr>
        <p:spPr>
          <a:xfrm>
            <a:off x="608097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충성도(1/4)</a:t>
            </a:r>
            <a:endParaRPr/>
          </a:p>
        </p:txBody>
      </p:sp>
      <p:sp>
        <p:nvSpPr>
          <p:cNvPr id="360" name="Google Shape;360;g3d8c0b5c1df_0_182"/>
          <p:cNvSpPr txBox="1"/>
          <p:nvPr/>
        </p:nvSpPr>
        <p:spPr>
          <a:xfrm>
            <a:off x="243450" y="1011200"/>
            <a:ext cx="40872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AutoNum type="arabicPeriod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계열사 연결 깊이(35%)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1" name="Google Shape;361;g3d8c0b5c1df_0_182"/>
          <p:cNvGraphicFramePr/>
          <p:nvPr/>
        </p:nvGraphicFramePr>
        <p:xfrm>
          <a:off x="325300" y="169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2814650"/>
                <a:gridCol w="2814650"/>
                <a:gridCol w="2814650"/>
                <a:gridCol w="2814650"/>
              </a:tblGrid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컬럼명</a:t>
                      </a:r>
                      <a:endParaRPr sz="11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계열사</a:t>
                      </a:r>
                      <a:endParaRPr sz="11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BQ 테이블</a:t>
                      </a:r>
                      <a:endParaRPr sz="11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활용 방법</a:t>
                      </a:r>
                      <a:endParaRPr sz="11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bank_id / card_id / sec_id ... (NULL 여부)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B5D4F4"/>
                          </a:solidFill>
                          <a:highlight>
                            <a:srgbClr val="042C53"/>
                          </a:highlight>
                        </a:rPr>
                        <a:t>BNK</a:t>
                      </a:r>
                      <a:r>
                        <a:rPr lang="en-US" sz="1100"/>
                        <a:t> </a:t>
                      </a:r>
                      <a:r>
                        <a:rPr lang="en-US" sz="1100">
                          <a:solidFill>
                            <a:srgbClr val="CECBF6"/>
                          </a:solidFill>
                          <a:highlight>
                            <a:srgbClr val="26215C"/>
                          </a:highlight>
                        </a:rPr>
                        <a:t>CRD</a:t>
                      </a:r>
                      <a:r>
                        <a:rPr lang="en-US" sz="1100"/>
                        <a:t> 외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customer_id_mapping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NULL이 아닌 계열사 수 = 가입 계열사 수 (기본)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bank_txn_count_30d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B5D4F4"/>
                          </a:solidFill>
                          <a:highlight>
                            <a:srgbClr val="042C53"/>
                          </a:highlight>
                        </a:rPr>
                        <a:t>BNK</a:t>
                      </a:r>
                      <a:endParaRPr sz="1100">
                        <a:solidFill>
                          <a:srgbClr val="B5D4F4"/>
                        </a:solidFill>
                        <a:highlight>
                          <a:srgbClr val="042C53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bq_curated_unified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최근 30일 실거래 &gt;0 → 은행 활성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card_monthly_spend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CECBF6"/>
                          </a:solidFill>
                          <a:highlight>
                            <a:srgbClr val="26215C"/>
                          </a:highlight>
                        </a:rPr>
                        <a:t>CRD</a:t>
                      </a:r>
                      <a:endParaRPr sz="1100">
                        <a:solidFill>
                          <a:srgbClr val="CECBF6"/>
                        </a:solidFill>
                        <a:highlight>
                          <a:srgbClr val="26215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bq_curated_unified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&gt;0 → 카드 활성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sec_total_eval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FE1CB"/>
                          </a:solidFill>
                          <a:highlight>
                            <a:srgbClr val="04342C"/>
                          </a:highlight>
                        </a:rPr>
                        <a:t>SEC</a:t>
                      </a:r>
                      <a:endParaRPr sz="1100">
                        <a:solidFill>
                          <a:srgbClr val="9FE1CB"/>
                        </a:solidFill>
                        <a:highlight>
                          <a:srgbClr val="04342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bq_curated_unified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&gt;0 → 증권 활성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insurance_active_count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FAC775"/>
                          </a:solidFill>
                          <a:highlight>
                            <a:srgbClr val="412402"/>
                          </a:highlight>
                        </a:rPr>
                        <a:t>INS</a:t>
                      </a:r>
                      <a:endParaRPr sz="1100">
                        <a:solidFill>
                          <a:srgbClr val="FAC775"/>
                        </a:solidFill>
                        <a:highlight>
                          <a:srgbClr val="412402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bq_curated_unified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&gt;0 → 보험 활성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hc_exercise_freq_week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F4C0D1"/>
                          </a:solidFill>
                          <a:highlight>
                            <a:srgbClr val="4B1528"/>
                          </a:highlight>
                        </a:rPr>
                        <a:t>HCR</a:t>
                      </a:r>
                      <a:endParaRPr sz="1100">
                        <a:solidFill>
                          <a:srgbClr val="F4C0D1"/>
                        </a:solidFill>
                        <a:highlight>
                          <a:srgbClr val="4B1528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bq_curated_unified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&gt;0 → 헬스케어 활성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wear_steps_avg_7d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C0DD97"/>
                          </a:solidFill>
                          <a:highlight>
                            <a:srgbClr val="173404"/>
                          </a:highlight>
                        </a:rPr>
                        <a:t>WBL</a:t>
                      </a:r>
                      <a:endParaRPr sz="1100">
                        <a:solidFill>
                          <a:srgbClr val="C0DD97"/>
                        </a:solidFill>
                        <a:highlight>
                          <a:srgbClr val="173404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bq_curated_unified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&gt;0 → 웨어러블 활성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hos_last_checkup_date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F5C4B3"/>
                          </a:solidFill>
                          <a:highlight>
                            <a:srgbClr val="4A1B0C"/>
                          </a:highlight>
                        </a:rPr>
                        <a:t>HOS</a:t>
                      </a:r>
                      <a:endParaRPr sz="1100">
                        <a:solidFill>
                          <a:srgbClr val="F5C4B3"/>
                        </a:solidFill>
                        <a:highlight>
                          <a:srgbClr val="4A1B0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bq_curated_unified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최근 1년 내 방문 → 병원 활성</a:t>
                      </a:r>
                      <a:endParaRPr sz="11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2" name="Google Shape;362;g3d8c0b5c1df_0_182"/>
          <p:cNvSpPr txBox="1"/>
          <p:nvPr/>
        </p:nvSpPr>
        <p:spPr>
          <a:xfrm>
            <a:off x="325300" y="5041675"/>
            <a:ext cx="10132500" cy="13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3C3489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/>
              <a:t>포인트를 많이 모아도 1개 계열사만 쓰는 고객은이탈 위험이 높음. 7개 계열사 중 실제로 활성 이용하는 수와 데이터가 연결된 깊이가 진짜 충성도 지표. 가입만 하고 안 쓰는 계열사는 제외.</a:t>
            </a:r>
            <a:endParaRPr sz="11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/>
              <a:t>활성 계열사 수 = 위 7개 중 조건 충족 수</a:t>
            </a:r>
            <a:endParaRPr sz="11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/>
              <a:t>· 6~7개 → 35점 / 4~5개 → 27점 / 3개 → 18점 / 2개 → 10점 / 1개 → 3점</a:t>
            </a:r>
            <a:endParaRPr sz="11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/>
              <a:t>· 웨어러블+헬스케어 동시 활성 → +3점 (건강 데이터 크로스 보너스)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8c0b5c1df_0_164"/>
          <p:cNvSpPr txBox="1"/>
          <p:nvPr>
            <p:ph type="title"/>
          </p:nvPr>
        </p:nvSpPr>
        <p:spPr>
          <a:xfrm>
            <a:off x="5504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충성도(2/4)</a:t>
            </a:r>
            <a:endParaRPr/>
          </a:p>
        </p:txBody>
      </p:sp>
      <p:sp>
        <p:nvSpPr>
          <p:cNvPr id="369" name="Google Shape;369;g3d8c0b5c1df_0_164"/>
          <p:cNvSpPr txBox="1"/>
          <p:nvPr/>
        </p:nvSpPr>
        <p:spPr>
          <a:xfrm>
            <a:off x="325300" y="905825"/>
            <a:ext cx="40872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저축</a:t>
            </a:r>
            <a:r>
              <a:rPr lang="en-US" sz="1300">
                <a:solidFill>
                  <a:schemeClr val="dk1"/>
                </a:solidFill>
              </a:rPr>
              <a:t>·</a:t>
            </a:r>
            <a:r>
              <a:rPr lang="en-US" sz="2800">
                <a:solidFill>
                  <a:schemeClr val="dk1"/>
                </a:solidFill>
              </a:rPr>
              <a:t>자산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(20%)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0" name="Google Shape;370;g3d8c0b5c1df_0_164"/>
          <p:cNvGraphicFramePr/>
          <p:nvPr/>
        </p:nvGraphicFramePr>
        <p:xfrm>
          <a:off x="406000" y="165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3176350"/>
                <a:gridCol w="871775"/>
                <a:gridCol w="2149225"/>
                <a:gridCol w="48422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컬럼명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계열사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 테이블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활용 방법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steps_total (일별 연속 기록 일수)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C0DD97"/>
                          </a:solidFill>
                          <a:highlight>
                            <a:srgbClr val="173404"/>
                          </a:highlight>
                        </a:rPr>
                        <a:t>WBL</a:t>
                      </a:r>
                      <a:endParaRPr sz="1200">
                        <a:solidFill>
                          <a:srgbClr val="C0DD97"/>
                        </a:solidFill>
                        <a:highlight>
                          <a:srgbClr val="173404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bq_wearable_vitals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최근 30일 중 데이터 있는 일수 비율 (연속성)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diet_recorded_meals (=3인 일수)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4C0D1"/>
                          </a:solidFill>
                          <a:highlight>
                            <a:srgbClr val="4B1528"/>
                          </a:highlight>
                        </a:rPr>
                        <a:t>HCR</a:t>
                      </a:r>
                      <a:endParaRPr sz="1200">
                        <a:solidFill>
                          <a:srgbClr val="F4C0D1"/>
                        </a:solidFill>
                        <a:highlight>
                          <a:srgbClr val="4B1528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bq_healthcare_services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월 중 3끼 완전 기록 일수 / 30일 비율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approval_dt 건수 (월별)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CECBF6"/>
                          </a:solidFill>
                          <a:highlight>
                            <a:srgbClr val="26215C"/>
                          </a:highlight>
                        </a:rPr>
                        <a:t>CRD</a:t>
                      </a:r>
                      <a:endParaRPr sz="1200">
                        <a:solidFill>
                          <a:srgbClr val="CECBF6"/>
                        </a:solidFill>
                        <a:highlight>
                          <a:srgbClr val="26215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bq_card_transactions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월 카드 결제 건수 (거래 빈도)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payment_status=PAID 연속 월수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AC775"/>
                          </a:solidFill>
                          <a:highlight>
                            <a:srgbClr val="412402"/>
                          </a:highlight>
                        </a:rPr>
                        <a:t>INS</a:t>
                      </a:r>
                      <a:endParaRPr sz="1200">
                        <a:solidFill>
                          <a:srgbClr val="FAC775"/>
                        </a:solidFill>
                        <a:highlight>
                          <a:srgbClr val="412402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bq_insurance_policies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보험료 연속 정상 납부 개월 수 (최대 12개월 카운트)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transaction_type 거래 빈도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B5D4F4"/>
                          </a:solidFill>
                          <a:highlight>
                            <a:srgbClr val="042C53"/>
                          </a:highlight>
                        </a:rPr>
                        <a:t>BNK</a:t>
                      </a:r>
                      <a:endParaRPr sz="1200">
                        <a:solidFill>
                          <a:srgbClr val="B5D4F4"/>
                        </a:solidFill>
                        <a:highlight>
                          <a:srgbClr val="042C53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bq_bank_transactions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월 은행 거래 건수 (앱 이용 빈도 대리 지표)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1" name="Google Shape;371;g3d8c0b5c1df_0_164"/>
          <p:cNvSpPr txBox="1"/>
          <p:nvPr/>
        </p:nvSpPr>
        <p:spPr>
          <a:xfrm>
            <a:off x="406000" y="4071550"/>
            <a:ext cx="97623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6E56"/>
              </a:solidFill>
            </a:endParaRPr>
          </a:p>
          <a:p>
            <a:pPr indent="0" lvl="0" marL="0" rtl="0"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/>
              <a:t>포인트는 이벤트성으로 한 번에 쌓을 수 있음. 진짜 충성도는 꾸준한 일상 행동 — 매일 걸음수 기록, 매주 카드 결제, 매달 보험료 납부 같은 반복 행동의 밀도에서 나옴.</a:t>
            </a:r>
            <a:endParaRPr sz="12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행동 지속성 점수 = 각 행동별 월간 빈도 정규화 후 합산 (최대 30점)</a:t>
            </a:r>
            <a:endParaRPr sz="12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· 웨어러블 기록 연속 25일+ → 10점 / 15~24일 → 7점 / 7~14일 → 4점 / &lt;7일 → 0점</a:t>
            </a:r>
            <a:endParaRPr sz="12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· 카드 월 10건+ → 10점 / 5~9건 → 7점 / 1~4건 → 4점 / 0건 → 0점</a:t>
            </a:r>
            <a:endParaRPr sz="12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· 보험료 연속납부 6개월+ → 10점 / 3~5개월 → 7점 / 1~2개월 → 4점 / 연체 → 0점</a:t>
            </a:r>
            <a:endParaRPr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8c0b5c1df_0_195"/>
          <p:cNvSpPr txBox="1"/>
          <p:nvPr>
            <p:ph type="title"/>
          </p:nvPr>
        </p:nvSpPr>
        <p:spPr>
          <a:xfrm>
            <a:off x="5504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충성도(3/4)</a:t>
            </a:r>
            <a:endParaRPr/>
          </a:p>
        </p:txBody>
      </p:sp>
      <p:sp>
        <p:nvSpPr>
          <p:cNvPr id="378" name="Google Shape;378;g3d8c0b5c1df_0_195"/>
          <p:cNvSpPr txBox="1"/>
          <p:nvPr/>
        </p:nvSpPr>
        <p:spPr>
          <a:xfrm>
            <a:off x="325300" y="905825"/>
            <a:ext cx="40872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포인트 활용도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(20%)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9" name="Google Shape;379;g3d8c0b5c1df_0_195"/>
          <p:cNvGraphicFramePr/>
          <p:nvPr/>
        </p:nvGraphicFramePr>
        <p:xfrm>
          <a:off x="454650" y="1752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2600475"/>
                <a:gridCol w="1028675"/>
                <a:gridCol w="2057325"/>
                <a:gridCol w="48553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컬럼명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계열사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 테이블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활용 방법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total_points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통합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bq_aurora_mirror_point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현재 포인트 잔액 (규모)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loyalty_grade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통합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bq_aurora_mirror_grade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현재 등급 (PLATINUM~BASIC)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point_earned (계열사별 합산)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전 계열사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bq_card / bq_bank 등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당월 적립 포인트 합계 (활동 기반)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point_earned 사용 이력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통합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point_balance (Aurora)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최근 3개월 포인트 사용 여부 (사용=활용, 미사용=적립만)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0" name="Google Shape;380;g3d8c0b5c1df_0_195"/>
          <p:cNvSpPr txBox="1"/>
          <p:nvPr/>
        </p:nvSpPr>
        <p:spPr>
          <a:xfrm>
            <a:off x="454650" y="3566675"/>
            <a:ext cx="105417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포인트 잔액이 많다고 충성도가 높은 게 아님. 오히려 안 쓰고 쌓아두는 고객은 이탈 가능성이 높을 수 있음. 적립과 사용이 균형 잡힌 고객, 즉 플랫폼을 실제로 '활용'하는 고객이 진짜 충성 고객.</a:t>
            </a:r>
            <a:endParaRPr sz="12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포인트 활용도 = (당월 적립 &gt;0) × 10 + (최근 3개월 내 사용 이력 있음) × 10</a:t>
            </a:r>
            <a:endParaRPr sz="12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· 등급 보정: PLATINUM +5점 / GOLD +3점 / SILVER +1점 / BRONZE 0 / BASIC -2점 (최저 0점)</a:t>
            </a:r>
            <a:endParaRPr sz="1200"/>
          </a:p>
          <a:p>
            <a:pPr indent="0" lvl="0" marL="139700" marR="1397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· 만료 포인트 &gt;50% → -3점 (적립하고 안 쓰는 패턴 패널티)</a:t>
            </a:r>
            <a:endParaRPr sz="1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d8c0b5c1df_0_207"/>
          <p:cNvSpPr txBox="1"/>
          <p:nvPr>
            <p:ph type="title"/>
          </p:nvPr>
        </p:nvSpPr>
        <p:spPr>
          <a:xfrm>
            <a:off x="5504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충성도(4/4)</a:t>
            </a:r>
            <a:endParaRPr/>
          </a:p>
        </p:txBody>
      </p:sp>
      <p:sp>
        <p:nvSpPr>
          <p:cNvPr id="387" name="Google Shape;387;g3d8c0b5c1df_0_207"/>
          <p:cNvSpPr txBox="1"/>
          <p:nvPr/>
        </p:nvSpPr>
        <p:spPr>
          <a:xfrm>
            <a:off x="325300" y="905825"/>
            <a:ext cx="40872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건강 행동 참여도 (1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0%)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8" name="Google Shape;388;g3d8c0b5c1df_0_207"/>
          <p:cNvGraphicFramePr/>
          <p:nvPr/>
        </p:nvGraphicFramePr>
        <p:xfrm>
          <a:off x="325300" y="185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3341250"/>
                <a:gridCol w="1133050"/>
                <a:gridCol w="2299175"/>
                <a:gridCol w="38126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컬럼명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계열사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 테이블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활용 방법</a:t>
                      </a:r>
                      <a:endParaRPr sz="1200"/>
                    </a:p>
                  </a:txBody>
                  <a:tcPr marT="47625" marB="47625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checkup_completed=TRUE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5C4B3"/>
                          </a:solidFill>
                          <a:highlight>
                            <a:srgbClr val="4A1B0C"/>
                          </a:highlight>
                        </a:rPr>
                        <a:t>HOS</a:t>
                      </a:r>
                      <a:endParaRPr sz="1200">
                        <a:solidFill>
                          <a:srgbClr val="F5C4B3"/>
                        </a:solidFill>
                        <a:highlight>
                          <a:srgbClr val="4A1B0C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bq_hospital_records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당해 건강검진 수검 여부 → +6점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steps_total &gt;=8000 달성 일수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C0DD97"/>
                          </a:solidFill>
                          <a:highlight>
                            <a:srgbClr val="173404"/>
                          </a:highlight>
                        </a:rPr>
                        <a:t>WBL</a:t>
                      </a:r>
                      <a:endParaRPr sz="1200">
                        <a:solidFill>
                          <a:srgbClr val="C0DD97"/>
                        </a:solidFill>
                        <a:highlight>
                          <a:srgbClr val="173404"/>
                        </a:highlight>
                      </a:endParaRPr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bq_wearable_vitals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월 중 목표 달성 일수 / 30 × 6점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health_score_latest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AI 산출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bq_result_table</a:t>
                      </a:r>
                      <a:endParaRPr sz="1200"/>
                    </a:p>
                  </a:txBody>
                  <a:tcPr marT="57150" marB="57150" marR="7620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9" name="Google Shape;389;g3d8c0b5c1df_0_207"/>
          <p:cNvSpPr txBox="1"/>
          <p:nvPr/>
        </p:nvSpPr>
        <p:spPr>
          <a:xfrm>
            <a:off x="325300" y="3479700"/>
            <a:ext cx="94374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52400" marR="1524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LifeSync360의 핵심 차별화는 건강-금융 통합. 건강 행동에 적극적인 고객(건강검진 수검, 운동목표 달성, 웨어러블 연동)이 플랫폼에 더 깊이 연결되어 있음. 금융 플랫폼 충성도에 건강 참여도를 더하는 이 지표가 타 플랫폼과 차별화 포인트.</a:t>
            </a:r>
            <a:endParaRPr sz="1200"/>
          </a:p>
          <a:p>
            <a:pPr indent="0" lvl="0" marL="152400" marR="152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200"/>
              <a:t>건강점수 75점+ → +3점 보너스</a:t>
            </a:r>
            <a:endParaRPr sz="1200"/>
          </a:p>
          <a:p>
            <a:pPr indent="0" lvl="0" marL="292100" marR="2921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· 건강검진 수검 → +6점 (연 1회 기준)</a:t>
            </a:r>
            <a:endParaRPr sz="1200"/>
          </a:p>
          <a:p>
            <a:pPr indent="0" lvl="0" marL="292100" marR="2921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· 걸음수 목표달성: 월 달성일수 ÷ 30 × 6점 (소수 반올림)</a:t>
            </a:r>
            <a:endParaRPr sz="1200"/>
          </a:p>
          <a:p>
            <a:pPr indent="0" lvl="0" marL="292100" marR="292100" rtl="0" algn="l">
              <a:lnSpc>
                <a:spcPct val="1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/>
              <a:t>· 건강점수 75점 이상 → +3점 보너스 (최대 15점 cap)</a:t>
            </a:r>
            <a:endParaRPr sz="1200"/>
          </a:p>
          <a:p>
            <a:pPr indent="0" lvl="0" marL="0" marR="381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85041"/>
              </a:solidFill>
              <a:highlight>
                <a:srgbClr val="E1F5E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0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적용)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0"/>
          <p:cNvSpPr txBox="1"/>
          <p:nvPr/>
        </p:nvSpPr>
        <p:spPr>
          <a:xfrm>
            <a:off x="353729" y="1068521"/>
            <a:ext cx="609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종합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점수를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통해서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제공할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있는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서비스 – Client 마다 Main 화면이 달라짐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0"/>
          <p:cNvSpPr txBox="1"/>
          <p:nvPr/>
        </p:nvSpPr>
        <p:spPr>
          <a:xfrm>
            <a:off x="353729" y="1597911"/>
            <a:ext cx="609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개인 맞춤 추천 </a:t>
            </a:r>
            <a:endParaRPr/>
          </a:p>
        </p:txBody>
      </p:sp>
      <p:graphicFrame>
        <p:nvGraphicFramePr>
          <p:cNvPr id="397" name="Google Shape;397;p20"/>
          <p:cNvGraphicFramePr/>
          <p:nvPr/>
        </p:nvGraphicFramePr>
        <p:xfrm>
          <a:off x="443563" y="20246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{0F41CA1B-4B6A-457E-9EE2-7F23FF1D2EE8}</a:tableStyleId>
              </a:tblPr>
              <a:tblGrid>
                <a:gridCol w="2449225"/>
                <a:gridCol w="24492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점수</a:t>
                      </a:r>
                      <a:endParaRPr sz="1200" u="none" cap="none" strike="noStrike">
                        <a:latin typeface="Oi"/>
                        <a:ea typeface="Oi"/>
                        <a:cs typeface="Oi"/>
                        <a:sym typeface="Oi"/>
                      </a:endParaRPr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제공</a:t>
                      </a: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서비스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90+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PB </a:t>
                      </a: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자산관리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+ </a:t>
                      </a: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프리미엄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건강관리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70~89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보험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추천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+ </a:t>
                      </a: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투자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추천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50~69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소비관리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+ </a:t>
                      </a: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건강개선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0~49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리스크</a:t>
                      </a: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000" u="none" cap="none" strike="noStrike">
                          <a:latin typeface="Oi"/>
                          <a:ea typeface="Oi"/>
                          <a:cs typeface="Oi"/>
                          <a:sym typeface="Oi"/>
                        </a:rPr>
                        <a:t>관리</a:t>
                      </a:r>
                      <a:endParaRPr/>
                    </a:p>
                  </a:txBody>
                  <a:tcPr marT="9525" marB="9525" marR="47625" marL="47625">
                    <a:lnL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A9A9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8" name="Google Shape;398;p20"/>
          <p:cNvSpPr txBox="1"/>
          <p:nvPr/>
        </p:nvSpPr>
        <p:spPr>
          <a:xfrm>
            <a:off x="353729" y="3330459"/>
            <a:ext cx="609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금융 상품 추천 </a:t>
            </a:r>
            <a:endParaRPr/>
          </a:p>
        </p:txBody>
      </p:sp>
      <p:sp>
        <p:nvSpPr>
          <p:cNvPr id="399" name="Google Shape;399;p20"/>
          <p:cNvSpPr txBox="1"/>
          <p:nvPr/>
        </p:nvSpPr>
        <p:spPr>
          <a:xfrm>
            <a:off x="443563" y="3782761"/>
            <a:ext cx="18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예시). 자산 성장성 높음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소비 안정적</a:t>
            </a:r>
            <a:endParaRPr/>
          </a:p>
        </p:txBody>
      </p:sp>
      <p:sp>
        <p:nvSpPr>
          <p:cNvPr id="400" name="Google Shape;400;p20"/>
          <p:cNvSpPr txBox="1"/>
          <p:nvPr/>
        </p:nvSpPr>
        <p:spPr>
          <a:xfrm>
            <a:off x="2859505" y="3751984"/>
            <a:ext cx="1853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추천 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ISA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ETF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연금저축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리밸런싱</a:t>
            </a:r>
            <a:endParaRPr/>
          </a:p>
        </p:txBody>
      </p:sp>
      <p:sp>
        <p:nvSpPr>
          <p:cNvPr id="401" name="Google Shape;401;p20"/>
          <p:cNvSpPr/>
          <p:nvPr/>
        </p:nvSpPr>
        <p:spPr>
          <a:xfrm>
            <a:off x="2215848" y="3794607"/>
            <a:ext cx="357600" cy="5340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0"/>
          <p:cNvSpPr txBox="1"/>
          <p:nvPr/>
        </p:nvSpPr>
        <p:spPr>
          <a:xfrm>
            <a:off x="353729" y="5260089"/>
            <a:ext cx="6097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건강관리 서비스</a:t>
            </a:r>
            <a:endParaRPr/>
          </a:p>
        </p:txBody>
      </p:sp>
      <p:sp>
        <p:nvSpPr>
          <p:cNvPr id="403" name="Google Shape;403;p20"/>
          <p:cNvSpPr txBox="1"/>
          <p:nvPr/>
        </p:nvSpPr>
        <p:spPr>
          <a:xfrm>
            <a:off x="443563" y="5712391"/>
            <a:ext cx="18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예시) 건강점수 낮음 + </a:t>
            </a:r>
            <a:endParaRPr b="0" i="0" sz="1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금융 점수 높음</a:t>
            </a:r>
            <a:endParaRPr b="0" i="0" sz="1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4" name="Google Shape;404;p20"/>
          <p:cNvSpPr txBox="1"/>
          <p:nvPr/>
        </p:nvSpPr>
        <p:spPr>
          <a:xfrm>
            <a:off x="2859505" y="5681614"/>
            <a:ext cx="2675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활용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프리미엄 헬스케어 패키지 추천</a:t>
            </a:r>
            <a:endParaRPr b="0" i="0" sz="1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검진 예약 제안</a:t>
            </a:r>
            <a:endParaRPr b="0" i="0" sz="1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웨어러블 연동 유도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0"/>
          <p:cNvSpPr/>
          <p:nvPr/>
        </p:nvSpPr>
        <p:spPr>
          <a:xfrm>
            <a:off x="2215848" y="5724237"/>
            <a:ext cx="357600" cy="5340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0"/>
          <p:cNvSpPr txBox="1"/>
          <p:nvPr/>
        </p:nvSpPr>
        <p:spPr>
          <a:xfrm>
            <a:off x="6451333" y="1070469"/>
            <a:ext cx="538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VIP 고객 자동 선별</a:t>
            </a:r>
            <a:endParaRPr/>
          </a:p>
        </p:txBody>
      </p:sp>
      <p:sp>
        <p:nvSpPr>
          <p:cNvPr id="407" name="Google Shape;407;p20"/>
          <p:cNvSpPr txBox="1"/>
          <p:nvPr/>
        </p:nvSpPr>
        <p:spPr>
          <a:xfrm>
            <a:off x="6541167" y="1522771"/>
            <a:ext cx="18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예시) Life score 85 이상 = VIP 후보</a:t>
            </a:r>
            <a:endParaRPr/>
          </a:p>
        </p:txBody>
      </p:sp>
      <p:sp>
        <p:nvSpPr>
          <p:cNvPr id="408" name="Google Shape;408;p20"/>
          <p:cNvSpPr txBox="1"/>
          <p:nvPr/>
        </p:nvSpPr>
        <p:spPr>
          <a:xfrm>
            <a:off x="8957109" y="1491994"/>
            <a:ext cx="1853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활용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PB 센터 안내</a:t>
            </a:r>
            <a:endParaRPr b="0" i="0" sz="1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프리미엄 카드 제안</a:t>
            </a:r>
            <a:endParaRPr b="0" i="0" sz="1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전담 상담사 연결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0"/>
          <p:cNvSpPr/>
          <p:nvPr/>
        </p:nvSpPr>
        <p:spPr>
          <a:xfrm>
            <a:off x="8313452" y="1534617"/>
            <a:ext cx="357600" cy="5340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d8c0b5c1df_0_365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Lifesync score </a:t>
            </a:r>
            <a:r>
              <a:rPr lang="en-US"/>
              <a:t>시나리오별 추천</a:t>
            </a:r>
            <a:r>
              <a:rPr lang="en-US"/>
              <a:t> </a:t>
            </a:r>
            <a:endParaRPr/>
          </a:p>
        </p:txBody>
      </p:sp>
      <p:pic>
        <p:nvPicPr>
          <p:cNvPr id="416" name="Google Shape;416;g3d8c0b5c1df_0_3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75" y="1076052"/>
            <a:ext cx="11887201" cy="5119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d8cac6283f_0_14"/>
          <p:cNvSpPr txBox="1"/>
          <p:nvPr>
            <p:ph idx="1" type="body"/>
          </p:nvPr>
        </p:nvSpPr>
        <p:spPr>
          <a:xfrm>
            <a:off x="608175" y="1137700"/>
            <a:ext cx="6362400" cy="5077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건강 위험 (0~35)</a:t>
            </a:r>
            <a:endParaRPr sz="15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9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health_score &lt; 40</a:t>
            </a: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→ +20</a:t>
            </a:r>
            <a:endParaRPr sz="1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9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40~59</a:t>
            </a: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→ +12</a:t>
            </a:r>
            <a:endParaRPr sz="1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9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60~74</a:t>
            </a: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→ +6</a:t>
            </a:r>
            <a:endParaRPr sz="1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9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SpO2 &lt;= 93</a:t>
            </a: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→ +5</a:t>
            </a:r>
            <a:endParaRPr sz="1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9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수축기혈압 &gt;= 140</a:t>
            </a: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또는 </a:t>
            </a:r>
            <a:r>
              <a:rPr lang="en-US" sz="9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이완기 &gt;= 90</a:t>
            </a: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→ +5</a:t>
            </a:r>
            <a:endParaRPr sz="1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9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만성질환 ICD10 존재</a:t>
            </a: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→ +5</a:t>
            </a:r>
            <a:b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(상한 35)</a:t>
            </a:r>
            <a:endParaRPr sz="1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소비 위험 (0~25)</a:t>
            </a:r>
            <a:endParaRPr sz="15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월 소비 변동성(최근 3개월) </a:t>
            </a:r>
            <a:r>
              <a:rPr lang="en-US" sz="9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&gt;30%</a:t>
            </a: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→ +8</a:t>
            </a:r>
            <a:endParaRPr sz="1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부채/고정비 부담비율 </a:t>
            </a:r>
            <a:r>
              <a:rPr lang="en-US" sz="9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&gt;35%</a:t>
            </a: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→ +8</a:t>
            </a:r>
            <a:endParaRPr sz="1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의료비 비중 급증(전분기 대비 2배+) → +5</a:t>
            </a:r>
            <a:endParaRPr sz="1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연체(</a:t>
            </a:r>
            <a:r>
              <a:rPr lang="en-US" sz="9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OVERDUE</a:t>
            </a: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) 발생 → +6</a:t>
            </a:r>
            <a:b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(상한 25)</a:t>
            </a:r>
            <a:endParaRPr sz="1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d8cac6283f_0_14"/>
          <p:cNvSpPr txBox="1"/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각 분야 위험도 판별 기준</a:t>
            </a:r>
            <a:endParaRPr/>
          </a:p>
        </p:txBody>
      </p:sp>
      <p:sp>
        <p:nvSpPr>
          <p:cNvPr id="424" name="Google Shape;424;g3d8cac6283f_0_14"/>
          <p:cNvSpPr txBox="1"/>
          <p:nvPr/>
        </p:nvSpPr>
        <p:spPr>
          <a:xfrm>
            <a:off x="6393675" y="1137700"/>
            <a:ext cx="5190300" cy="28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2222"/>
                </a:solidFill>
              </a:rPr>
              <a:t>자산 위험 (0~25)</a:t>
            </a:r>
            <a:endParaRPr sz="1500">
              <a:solidFill>
                <a:srgbClr val="22222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1000">
                <a:solidFill>
                  <a:srgbClr val="222222"/>
                </a:solidFill>
              </a:rPr>
              <a:t>자산 성장률 3개월 </a:t>
            </a:r>
            <a:r>
              <a:rPr lang="en-US" sz="9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&lt; -10%</a:t>
            </a:r>
            <a:r>
              <a:rPr lang="en-US" sz="1000">
                <a:solidFill>
                  <a:srgbClr val="222222"/>
                </a:solidFill>
              </a:rPr>
              <a:t> → +10</a:t>
            </a:r>
            <a:endParaRPr sz="1000">
              <a:solidFill>
                <a:srgbClr val="22222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1000">
                <a:solidFill>
                  <a:srgbClr val="222222"/>
                </a:solidFill>
              </a:rPr>
              <a:t>투자 손실구간(</a:t>
            </a:r>
            <a:r>
              <a:rPr lang="en-US" sz="9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avg_return_rate &lt; -4%</a:t>
            </a:r>
            <a:r>
              <a:rPr lang="en-US" sz="1000">
                <a:solidFill>
                  <a:srgbClr val="222222"/>
                </a:solidFill>
              </a:rPr>
              <a:t>) → +6</a:t>
            </a:r>
            <a:endParaRPr sz="1000">
              <a:solidFill>
                <a:srgbClr val="22222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1000">
                <a:solidFill>
                  <a:srgbClr val="222222"/>
                </a:solidFill>
              </a:rPr>
              <a:t>유동성 버퍼 </a:t>
            </a:r>
            <a:r>
              <a:rPr lang="en-US" sz="9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&lt;1개월</a:t>
            </a:r>
            <a:r>
              <a:rPr lang="en-US" sz="1000">
                <a:solidFill>
                  <a:srgbClr val="222222"/>
                </a:solidFill>
              </a:rPr>
              <a:t> → +6</a:t>
            </a:r>
            <a:endParaRPr sz="1000">
              <a:solidFill>
                <a:srgbClr val="22222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1000">
                <a:solidFill>
                  <a:srgbClr val="222222"/>
                </a:solidFill>
              </a:rPr>
              <a:t>보험 보호력 약함(유효보험 0건 or 실손 미보유) → +5</a:t>
            </a:r>
            <a:br>
              <a:rPr lang="en-US" sz="1000">
                <a:solidFill>
                  <a:srgbClr val="222222"/>
                </a:solidFill>
              </a:rPr>
            </a:br>
            <a:r>
              <a:rPr lang="en-US" sz="1000">
                <a:solidFill>
                  <a:srgbClr val="222222"/>
                </a:solidFill>
              </a:rPr>
              <a:t>(상한 25)</a:t>
            </a:r>
            <a:endParaRPr sz="10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2222"/>
                </a:solidFill>
              </a:rPr>
              <a:t>충성도/이탈 위험 (0~15)</a:t>
            </a:r>
            <a:endParaRPr sz="1500">
              <a:solidFill>
                <a:srgbClr val="22222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9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loyalty_score &lt; 40</a:t>
            </a:r>
            <a:r>
              <a:rPr lang="en-US" sz="1000">
                <a:solidFill>
                  <a:srgbClr val="222222"/>
                </a:solidFill>
              </a:rPr>
              <a:t> → +8</a:t>
            </a:r>
            <a:endParaRPr sz="1000">
              <a:solidFill>
                <a:srgbClr val="22222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1000">
                <a:solidFill>
                  <a:srgbClr val="222222"/>
                </a:solidFill>
              </a:rPr>
              <a:t>활동 지속성 급감(최근 30일 핵심행동 저하) → +4</a:t>
            </a:r>
            <a:endParaRPr sz="1000">
              <a:solidFill>
                <a:srgbClr val="22222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1000">
                <a:solidFill>
                  <a:srgbClr val="222222"/>
                </a:solidFill>
              </a:rPr>
              <a:t>포인트 적립/사용 단절 → +3</a:t>
            </a:r>
            <a:endParaRPr sz="1000">
              <a:solidFill>
                <a:srgbClr val="22222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Char char="●"/>
            </a:pPr>
            <a:r>
              <a:rPr lang="en-US" sz="1000">
                <a:solidFill>
                  <a:srgbClr val="222222"/>
                </a:solidFill>
              </a:rPr>
              <a:t>churn_prob </a:t>
            </a:r>
            <a:r>
              <a:rPr lang="en-US" sz="9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&gt;=0.65</a:t>
            </a:r>
            <a:r>
              <a:rPr lang="en-US" sz="1000">
                <a:solidFill>
                  <a:srgbClr val="222222"/>
                </a:solidFill>
              </a:rPr>
              <a:t> → +5 보정</a:t>
            </a:r>
            <a:br>
              <a:rPr lang="en-US" sz="1000">
                <a:solidFill>
                  <a:srgbClr val="222222"/>
                </a:solidFill>
              </a:rPr>
            </a:br>
            <a:r>
              <a:rPr lang="en-US" sz="1000">
                <a:solidFill>
                  <a:srgbClr val="222222"/>
                </a:solidFill>
              </a:rPr>
              <a:t>(상한 15)</a:t>
            </a:r>
            <a:endParaRPr sz="100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2023-09-08T07:40:16Z</dcterms:created>
  <dc:creator>Calvin Heo</dc:creator>
</cp:coreProperties>
</file>