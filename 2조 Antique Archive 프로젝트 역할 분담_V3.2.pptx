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irj5OqNyzAxjBROqPjWg+vtOJ1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751A3D-50B4-4108-A862-3432201EADF5}">
  <a:tblStyle styleId="{5A751A3D-50B4-4108-A862-3432201EADF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0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884c1ad0b_4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d884c1ad0b_4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g3d884c1ad0b_4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69f36f2de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e69f36f2de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g3e69f36f2de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69f36f2de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e69f36f2de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3e69f36f2de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69f36f2de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e69f36f2de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g3e69f36f2de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hort Band: Text and Bullets" showMasterSp="0">
  <p:cSld name="Content Short Band: Text and Bulle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370"/>
            <a:ext cx="12192127" cy="6441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7"/>
          <p:cNvSpPr txBox="1"/>
          <p:nvPr>
            <p:ph idx="1" type="body"/>
          </p:nvPr>
        </p:nvSpPr>
        <p:spPr>
          <a:xfrm>
            <a:off x="608172" y="1137695"/>
            <a:ext cx="10975658" cy="5077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type="title"/>
          </p:nvPr>
        </p:nvSpPr>
        <p:spPr>
          <a:xfrm>
            <a:off x="608172" y="2"/>
            <a:ext cx="10975658" cy="642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9" name="Google Shape;2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884c1ad0b_4_30"/>
          <p:cNvSpPr txBox="1"/>
          <p:nvPr>
            <p:ph type="title"/>
          </p:nvPr>
        </p:nvSpPr>
        <p:spPr>
          <a:xfrm>
            <a:off x="608172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클라우드 프로젝트 역할 분담 </a:t>
            </a:r>
            <a:endParaRPr/>
          </a:p>
        </p:txBody>
      </p:sp>
      <p:graphicFrame>
        <p:nvGraphicFramePr>
          <p:cNvPr id="95" name="Google Shape;95;g3d884c1ad0b_4_30"/>
          <p:cNvGraphicFramePr/>
          <p:nvPr/>
        </p:nvGraphicFramePr>
        <p:xfrm>
          <a:off x="952500" y="150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{5A751A3D-50B4-4108-A862-3432201EADF5}</a:tableStyleId>
              </a:tblPr>
              <a:tblGrid>
                <a:gridCol w="1803125"/>
                <a:gridCol w="4170575"/>
                <a:gridCol w="4313300"/>
              </a:tblGrid>
              <a:tr h="943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팀 구성원/Team Member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역할/ Role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역할 설명 / Responsibilities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</a:tr>
              <a:tr h="930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송동호(</a:t>
                      </a:r>
                      <a:r>
                        <a:rPr lang="en-US"/>
                        <a:t>PL)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Cloud Infrastructure &amp; IaC Engineer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AWS 인프라를 IaC로 표준화하고, 데이터 파이프라인 연계 및 초기 데이터 적재·운영관제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·CI/CD</a:t>
                      </a:r>
                      <a:r>
                        <a:rPr lang="en-US"/>
                        <a:t> 자동화 </a:t>
                      </a:r>
                      <a:endParaRPr>
                        <a:solidFill>
                          <a:srgbClr val="22222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  <a:tr h="83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조창선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Multi-Cloud Data &amp; AI Platform Engineer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AWS–GCP 멀티 클라우드 환경 데이터 파이프라인 구축 및 GCP IaC 기반 AI 분석 인프라 설계.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S3 Raw 버킷 적재 프로세스 및 Glue, EMR CI/CD 파이프라인 구축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83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황희창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Cloud Platform &amp; On-Premise Engineer</a:t>
                      </a:r>
                      <a:endParaRPr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ECS 기반 플랫폼 기반 구축, Aurora/DynamoDB/ElastiCache 관리 , Ansible 자동화 , 플랫폼VPC-CI/CD 자동화,관리자 대시보드 구축</a:t>
                      </a:r>
                      <a:endParaRPr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69f36f2de_0_6"/>
          <p:cNvSpPr txBox="1"/>
          <p:nvPr>
            <p:ph type="title"/>
          </p:nvPr>
        </p:nvSpPr>
        <p:spPr>
          <a:xfrm>
            <a:off x="608172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조창선 ( 1 / 3) </a:t>
            </a:r>
            <a:endParaRPr/>
          </a:p>
        </p:txBody>
      </p:sp>
      <p:sp>
        <p:nvSpPr>
          <p:cNvPr id="102" name="Google Shape;102;g3e69f36f2de_0_6"/>
          <p:cNvSpPr txBox="1"/>
          <p:nvPr/>
        </p:nvSpPr>
        <p:spPr>
          <a:xfrm>
            <a:off x="674575" y="1099150"/>
            <a:ext cx="520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/>
              <a:t>Infrastructure as Code(Terraform)로 인프라 구축</a:t>
            </a:r>
            <a:endParaRPr sz="1800"/>
          </a:p>
        </p:txBody>
      </p:sp>
      <p:sp>
        <p:nvSpPr>
          <p:cNvPr id="103" name="Google Shape;103;g3e69f36f2de_0_6"/>
          <p:cNvSpPr txBox="1"/>
          <p:nvPr/>
        </p:nvSpPr>
        <p:spPr>
          <a:xfrm>
            <a:off x="674575" y="20174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/>
              <a:t>GCP - 네트워킹</a:t>
            </a:r>
            <a:endParaRPr sz="1600"/>
          </a:p>
        </p:txBody>
      </p:sp>
      <p:sp>
        <p:nvSpPr>
          <p:cNvPr id="104" name="Google Shape;104;g3e69f36f2de_0_6"/>
          <p:cNvSpPr txBox="1"/>
          <p:nvPr/>
        </p:nvSpPr>
        <p:spPr>
          <a:xfrm>
            <a:off x="674575" y="2448500"/>
            <a:ext cx="3648900" cy="1908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VPC (google_compute_network)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Subnet (google_compute_subnetwork)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Cloud VPN Gateway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Cloud Router (BGP)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VPN Tunnel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Firewall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Private Service Connect Endpoint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Private Google Access 설정</a:t>
            </a:r>
            <a:endParaRPr/>
          </a:p>
        </p:txBody>
      </p:sp>
      <p:sp>
        <p:nvSpPr>
          <p:cNvPr id="105" name="Google Shape;105;g3e69f36f2de_0_6"/>
          <p:cNvSpPr txBox="1"/>
          <p:nvPr/>
        </p:nvSpPr>
        <p:spPr>
          <a:xfrm>
            <a:off x="674575" y="43262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/>
              <a:t>GCP - 보안</a:t>
            </a:r>
            <a:endParaRPr sz="1600"/>
          </a:p>
        </p:txBody>
      </p:sp>
      <p:sp>
        <p:nvSpPr>
          <p:cNvPr id="106" name="Google Shape;106;g3e69f36f2de_0_6"/>
          <p:cNvSpPr txBox="1"/>
          <p:nvPr/>
        </p:nvSpPr>
        <p:spPr>
          <a:xfrm>
            <a:off x="674575" y="4726400"/>
            <a:ext cx="3648900" cy="1477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Service Account (STS / Cloud Run / Vertex AI / Eventarc / BQ)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IAM Role 바인딩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Secret Manager (시크릿 저장소)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Secret Manager Secret Version (AWS Access Key 저장)</a:t>
            </a:r>
            <a:endParaRPr/>
          </a:p>
        </p:txBody>
      </p:sp>
      <p:sp>
        <p:nvSpPr>
          <p:cNvPr id="107" name="Google Shape;107;g3e69f36f2de_0_6"/>
          <p:cNvSpPr txBox="1"/>
          <p:nvPr/>
        </p:nvSpPr>
        <p:spPr>
          <a:xfrm>
            <a:off x="4799275" y="20174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/>
              <a:t>GCP - 스토리지 / 전송</a:t>
            </a:r>
            <a:endParaRPr sz="1600"/>
          </a:p>
        </p:txBody>
      </p:sp>
      <p:sp>
        <p:nvSpPr>
          <p:cNvPr id="108" name="Google Shape;108;g3e69f36f2de_0_6"/>
          <p:cNvSpPr txBox="1"/>
          <p:nvPr/>
        </p:nvSpPr>
        <p:spPr>
          <a:xfrm>
            <a:off x="4799275" y="2417600"/>
            <a:ext cx="3441900" cy="10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GCS 버킷 (lifesync-data-lake)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GCS 버킷 Lifecycle 정책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Storage Transfer Job (S3 → GCS / 매일 03:00)</a:t>
            </a:r>
            <a:endParaRPr/>
          </a:p>
        </p:txBody>
      </p:sp>
      <p:sp>
        <p:nvSpPr>
          <p:cNvPr id="109" name="Google Shape;109;g3e69f36f2de_0_6"/>
          <p:cNvSpPr txBox="1"/>
          <p:nvPr/>
        </p:nvSpPr>
        <p:spPr>
          <a:xfrm>
            <a:off x="4799275" y="34643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/>
              <a:t>GCP - 데이터 처리</a:t>
            </a:r>
            <a:endParaRPr sz="1600"/>
          </a:p>
        </p:txBody>
      </p:sp>
      <p:sp>
        <p:nvSpPr>
          <p:cNvPr id="110" name="Google Shape;110;g3e69f36f2de_0_6"/>
          <p:cNvSpPr txBox="1"/>
          <p:nvPr/>
        </p:nvSpPr>
        <p:spPr>
          <a:xfrm>
            <a:off x="4799275" y="3864500"/>
            <a:ext cx="3441900" cy="2555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BigQuery Dataset × 3개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(lifesync_curated / lifesync_ml / lifesync_serving)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BigQuery Dataset IAM 설정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BigQuery Scheduled Query (03:25 BQ Load Job)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BigQuery Scheduled Query (ML 학습용 테이블 생성 × 4개)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Cloud Scheduler (× 여러 개)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- 매일 04:00 Vertex AI Trigger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- 매일 04:40 Dynamic Score 재계산</a:t>
            </a:r>
            <a:endParaRPr/>
          </a:p>
        </p:txBody>
      </p:sp>
      <p:sp>
        <p:nvSpPr>
          <p:cNvPr id="111" name="Google Shape;111;g3e69f36f2de_0_6"/>
          <p:cNvSpPr txBox="1"/>
          <p:nvPr/>
        </p:nvSpPr>
        <p:spPr>
          <a:xfrm>
            <a:off x="8587100" y="20174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/>
              <a:t>GCP - 서비스</a:t>
            </a:r>
            <a:endParaRPr sz="1600"/>
          </a:p>
        </p:txBody>
      </p:sp>
      <p:sp>
        <p:nvSpPr>
          <p:cNvPr id="112" name="Google Shape;112;g3e69f36f2de_0_6"/>
          <p:cNvSpPr txBox="1"/>
          <p:nvPr/>
        </p:nvSpPr>
        <p:spPr>
          <a:xfrm>
            <a:off x="8587100" y="2417600"/>
            <a:ext cx="3390000" cy="212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Cloud Run 서비스 (lifesync-predict-runner)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Cloud Run 서비스 (lifesync-sender / AWS 전달용)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Eventarc Trigger (Vertex AI 완료 → Cloud Run)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Vertex AI Dataset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Vertex AI Endpoint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Cloud Monitoring Alert Policy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69f36f2de_0_12"/>
          <p:cNvSpPr txBox="1"/>
          <p:nvPr>
            <p:ph type="title"/>
          </p:nvPr>
        </p:nvSpPr>
        <p:spPr>
          <a:xfrm>
            <a:off x="608172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조창선 ( 2 / 3) </a:t>
            </a:r>
            <a:endParaRPr/>
          </a:p>
        </p:txBody>
      </p:sp>
      <p:sp>
        <p:nvSpPr>
          <p:cNvPr id="119" name="Google Shape;119;g3e69f36f2de_0_12"/>
          <p:cNvSpPr txBox="1"/>
          <p:nvPr/>
        </p:nvSpPr>
        <p:spPr>
          <a:xfrm>
            <a:off x="674575" y="1099150"/>
            <a:ext cx="46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/>
              <a:t>직접 Console 및 CLI</a:t>
            </a:r>
            <a:r>
              <a:rPr lang="en-US" sz="1800"/>
              <a:t>로 </a:t>
            </a:r>
            <a:r>
              <a:rPr lang="en-US" sz="1800"/>
              <a:t>리소스 구성</a:t>
            </a:r>
            <a:endParaRPr sz="1800"/>
          </a:p>
        </p:txBody>
      </p:sp>
      <p:sp>
        <p:nvSpPr>
          <p:cNvPr id="120" name="Google Shape;120;g3e69f36f2de_0_12"/>
          <p:cNvSpPr txBox="1"/>
          <p:nvPr/>
        </p:nvSpPr>
        <p:spPr>
          <a:xfrm>
            <a:off x="674575" y="20174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AWS - 애플리케이션 코드</a:t>
            </a:r>
            <a:endParaRPr sz="1800"/>
          </a:p>
        </p:txBody>
      </p:sp>
      <p:sp>
        <p:nvSpPr>
          <p:cNvPr id="121" name="Google Shape;121;g3e69f36f2de_0_12"/>
          <p:cNvSpPr txBox="1"/>
          <p:nvPr/>
        </p:nvSpPr>
        <p:spPr>
          <a:xfrm>
            <a:off x="674575" y="2448500"/>
            <a:ext cx="3242400" cy="298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🔧 Lambda 함수 코드 작성 및 배포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- lifesync-batch-loader-lambda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- lifesync-wearable-stream-lambda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- Lambda Recommendation Engine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🔧 Glue ETL PySpark 스크립트 작성 (계열사별 × 7개)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🔧 EMR PySpark 스크립트 작성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(customer360 / score_mart / health_mart 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ai_feature_table / vip_mart / recommendation × 6개)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🔧 buildspec.yml 작성 (파이프라인별)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🔧 deploy.sh 작성</a:t>
            </a:r>
            <a:endParaRPr/>
          </a:p>
        </p:txBody>
      </p:sp>
      <p:sp>
        <p:nvSpPr>
          <p:cNvPr id="122" name="Google Shape;122;g3e69f36f2de_0_12"/>
          <p:cNvSpPr txBox="1"/>
          <p:nvPr/>
        </p:nvSpPr>
        <p:spPr>
          <a:xfrm>
            <a:off x="5409671" y="149165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GCP - BigQuery 직접 구축</a:t>
            </a:r>
            <a:endParaRPr sz="1600"/>
          </a:p>
        </p:txBody>
      </p:sp>
      <p:sp>
        <p:nvSpPr>
          <p:cNvPr id="123" name="Google Shape;123;g3e69f36f2de_0_12"/>
          <p:cNvSpPr txBox="1"/>
          <p:nvPr/>
        </p:nvSpPr>
        <p:spPr>
          <a:xfrm>
            <a:off x="5409675" y="1930918"/>
            <a:ext cx="6174300" cy="4925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🔧 BigQuery 테이블 스키마 생성 (직접 또는 bq CLI)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- lifesync_curated.customer_360_profile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- lifesync_curated.score_mart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- lifesync_curated.ai_feature_table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- lifesync_curated.vip_candidate_mart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- lifesync_curated.recommendation_mart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- lifesync_curated.health_mart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- lifesync_ml.vip_prediction_result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- lifesync_ml.signup_prediction_result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- lifesync_ml.rec_prediction_result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- lifesync_ml.health_prediction_result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- lifesync_ml.vip_training_data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- lifesync_ml.rec_training_data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- lifesync_ml.health_training_data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🔧 BigQuery View 생성 (SQL 직접 실행)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- lifesync_serving.v_customer_summary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- lifesync_serving.v_vip_customer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- lifesync_serving.v_recommend_top3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- lifesync_serving.v_user_dashboard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🔧 BigQuery Scheduled Query SQL 작성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🔧 BigQuery KPI 분석 쿼리 실행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🔧 ML 학습용 Table CREATE OR REPLACE TABLE 실행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69f36f2de_0_17"/>
          <p:cNvSpPr txBox="1"/>
          <p:nvPr>
            <p:ph type="title"/>
          </p:nvPr>
        </p:nvSpPr>
        <p:spPr>
          <a:xfrm>
            <a:off x="608172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조창선 ( 3 / 3) </a:t>
            </a:r>
            <a:endParaRPr/>
          </a:p>
        </p:txBody>
      </p:sp>
      <p:sp>
        <p:nvSpPr>
          <p:cNvPr id="130" name="Google Shape;130;g3e69f36f2de_0_17"/>
          <p:cNvSpPr txBox="1"/>
          <p:nvPr/>
        </p:nvSpPr>
        <p:spPr>
          <a:xfrm>
            <a:off x="674575" y="2448500"/>
            <a:ext cx="3000000" cy="2555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🔧 XGBoost 모델 학습 코드 작성 (Python)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(VIP 예측 / 가입 예측 / 추천 예측 / 건강점수 회귀)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🔧 Vertex AI 모델 학습 실행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🔧 Vertex AI Model Registry 등록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🔧 Vertex AI Endpoint 모델 배포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🔧 Vertex AI Batch Prediction Job 코드 작성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(Vertex_AI_Batch_Predict.py)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🔧 모델 평가 지표 확인 및 검증</a:t>
            </a:r>
            <a:endParaRPr/>
          </a:p>
        </p:txBody>
      </p:sp>
      <p:sp>
        <p:nvSpPr>
          <p:cNvPr id="131" name="Google Shape;131;g3e69f36f2de_0_17"/>
          <p:cNvSpPr txBox="1"/>
          <p:nvPr/>
        </p:nvSpPr>
        <p:spPr>
          <a:xfrm>
            <a:off x="674575" y="20174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GCP - Vertex AI / 모델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2" name="Google Shape;132;g3e69f36f2de_0_17"/>
          <p:cNvSpPr txBox="1"/>
          <p:nvPr/>
        </p:nvSpPr>
        <p:spPr>
          <a:xfrm>
            <a:off x="4799275" y="20174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GCP - Cloud Run 코드</a:t>
            </a:r>
            <a:endParaRPr sz="1800"/>
          </a:p>
        </p:txBody>
      </p:sp>
      <p:sp>
        <p:nvSpPr>
          <p:cNvPr id="133" name="Google Shape;133;g3e69f36f2de_0_17"/>
          <p:cNvSpPr txBox="1"/>
          <p:nvPr/>
        </p:nvSpPr>
        <p:spPr>
          <a:xfrm>
            <a:off x="4799275" y="2448500"/>
            <a:ext cx="3000000" cy="2770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🔧 lifesync-predict-runner 컨테이너 코드 작성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🔧 lifesync-sender 컨테이너 코드 작성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(Serving View → AWS API GW 호출)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🔧 Dockerfile 작성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🔧 컨테이너 이미지 빌드 및 GCR 푸시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🔧 Dynamic Score 계산 SQL 작성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🔧 Final Recommendation Mart 생성 SQL 작성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2023-09-08T07:40:16Z</dcterms:created>
  <dc:creator>Calvin Heo</dc:creator>
</cp:coreProperties>
</file>